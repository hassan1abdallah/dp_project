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5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E5A"/>
                </a:solidFill>
                <a:latin typeface="Arial"/>
              </a:rPr>
              <a:t>Physician Utilization ρ by Patient Entity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 ρ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 Non-Trauma</c:v>
                </c:pt>
                <c:pt idx="1">
                  <c:v>Pediatric Non-Trauma</c:v>
                </c:pt>
                <c:pt idx="2">
                  <c:v>Trauma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8F-4EE6-8BED-3E9570EEB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ρ</c:v>
                </c:pt>
              </c:strCache>
            </c:strRef>
          </c:tx>
          <c:spPr>
            <a:solidFill>
              <a:srgbClr val="1E5F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 Non-Trauma</c:v>
                </c:pt>
                <c:pt idx="1">
                  <c:v>Pediatric Non-Trauma</c:v>
                </c:pt>
                <c:pt idx="2">
                  <c:v>Trauma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0.75</c:v>
                </c:pt>
                <c:pt idx="2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8F-4EE6-8BED-3E9570EEB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Max ρ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Adult Non-Trauma</c:v>
                </c:pt>
                <c:pt idx="1">
                  <c:v>Pediatric Non-Trauma</c:v>
                </c:pt>
                <c:pt idx="2">
                  <c:v>Trauma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1.4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8F-4EE6-8BED-3E9570EEB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E5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2E5A"/>
                </a:solidFill>
                <a:latin typeface="Arial"/>
              </a:rPr>
              <a:t>Pediatric </a:t>
            </a:r>
            <a:r>
              <a:rPr lang="el-GR" sz="1000" b="0" i="0" u="none" strike="noStrike">
                <a:solidFill>
                  <a:srgbClr val="1A2E5A"/>
                </a:solidFill>
                <a:latin typeface="Arial"/>
              </a:rPr>
              <a:t>ρ — </a:t>
            </a:r>
            <a:r>
              <a:rPr lang="en-US" sz="1000" b="0" i="0" u="none" strike="noStrike">
                <a:solidFill>
                  <a:srgbClr val="1A2E5A"/>
                </a:solidFill>
                <a:latin typeface="Arial"/>
              </a:rPr>
              <a:t>Evening Hours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Pediatric ρ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03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9PM</c:v>
                </c:pt>
                <c:pt idx="1">
                  <c:v>10PM</c:v>
                </c:pt>
                <c:pt idx="2">
                  <c:v>11PM</c:v>
                </c:pt>
                <c:pt idx="3">
                  <c:v>12AM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</c:v>
                </c:pt>
                <c:pt idx="1">
                  <c:v>0.95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72-48A6-8B65-FDA8C2E1B1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E5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E5A"/>
                </a:solidFill>
                <a:latin typeface="Arial"/>
              </a:rPr>
              <a:t>Trauma Physician Utilization ρ — Hourly Profile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Trauma ρ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0.45</c:v>
                </c:pt>
                <c:pt idx="1">
                  <c:v>0.35</c:v>
                </c:pt>
                <c:pt idx="2">
                  <c:v>0.25</c:v>
                </c:pt>
                <c:pt idx="3">
                  <c:v>0.2</c:v>
                </c:pt>
                <c:pt idx="4">
                  <c:v>0.22</c:v>
                </c:pt>
                <c:pt idx="5">
                  <c:v>0.28000000000000003</c:v>
                </c:pt>
                <c:pt idx="6">
                  <c:v>0.38</c:v>
                </c:pt>
                <c:pt idx="7">
                  <c:v>0.48</c:v>
                </c:pt>
                <c:pt idx="8">
                  <c:v>0.55000000000000004</c:v>
                </c:pt>
                <c:pt idx="9">
                  <c:v>0.57999999999999996</c:v>
                </c:pt>
                <c:pt idx="10">
                  <c:v>0.6</c:v>
                </c:pt>
                <c:pt idx="11">
                  <c:v>0.57999999999999996</c:v>
                </c:pt>
                <c:pt idx="12">
                  <c:v>0.56000000000000005</c:v>
                </c:pt>
                <c:pt idx="13">
                  <c:v>0.52</c:v>
                </c:pt>
                <c:pt idx="14">
                  <c:v>0.5</c:v>
                </c:pt>
                <c:pt idx="15">
                  <c:v>0.48</c:v>
                </c:pt>
                <c:pt idx="16">
                  <c:v>0.5</c:v>
                </c:pt>
                <c:pt idx="17">
                  <c:v>0.52</c:v>
                </c:pt>
                <c:pt idx="18">
                  <c:v>0.55000000000000004</c:v>
                </c:pt>
                <c:pt idx="19">
                  <c:v>0.55000000000000004</c:v>
                </c:pt>
                <c:pt idx="20">
                  <c:v>0.5</c:v>
                </c:pt>
                <c:pt idx="21">
                  <c:v>0.45</c:v>
                </c:pt>
                <c:pt idx="22">
                  <c:v>0.42</c:v>
                </c:pt>
                <c:pt idx="23">
                  <c:v>0.4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3AE-4234-AD33-6614A20C5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18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1E5FA8">
              <a:alpha val="40000"/>
            </a:srgbClr>
          </a:solidFill>
          <a:ln w="12700">
            <a:solidFill>
              <a:srgbClr val="1E5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182880"/>
            <a:ext cx="1280160" cy="1280160"/>
          </a:xfrm>
          <a:prstGeom prst="ellipse">
            <a:avLst/>
          </a:prstGeom>
          <a:solidFill>
            <a:srgbClr val="3B82C4">
              <a:alpha val="50000"/>
            </a:srgbClr>
          </a:solidFill>
          <a:ln w="12700">
            <a:solidFill>
              <a:srgbClr val="3B82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3200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DS323 / DS361  ·  Stochastic Models  ·  Case Study — Part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772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Intensity of Patients
and Physicians in the
</a:t>
            </a:r>
            <a:r>
              <a:rPr lang="en-US" sz="3200" b="1" dirty="0">
                <a:solidFill>
                  <a:srgbClr val="5AA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Department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Queueing Approach for Physician Utilization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5029200" cy="0"/>
          </a:xfrm>
          <a:prstGeom prst="line">
            <a:avLst/>
          </a:prstGeom>
          <a:noFill/>
          <a:ln w="1905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Chaou et al. (2018), The Journal of Emergency Medicine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Department Patient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  ·  Instructor: Dr. Olivia Morad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889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" cy="47548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69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Stochastic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070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process, exponential service, queueing fundamentals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411480" cy="4754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636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Application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crowding problem, study context &amp; dataset (148,581 patients)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411480" cy="47548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2951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042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M/M/c Model Formulation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5420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space, transition rates, performance metrics (ρ, L, W, Lq, Wq)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62656"/>
            <a:ext cx="411480" cy="4754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626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971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State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2095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— Irreducibility, recurrence, ergodicity, steady-state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30168"/>
            <a:ext cx="4114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6301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639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87705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surge (ρ=1.4), trauma overstaffing, clinical insights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297680"/>
            <a:ext cx="411480" cy="4754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2976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3068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 &amp; Conclusion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5445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Extensions, real-time staffing, network models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Stochastic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81635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60120"/>
            <a:ext cx="2816352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051560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93192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02996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random variables {X(t), t∈T} indexed by time. The system's future evolution depends on probabilistic rules — not deterministic equations.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81635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816352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Process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02996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arrivals follow a Poisson process with rate λ. Inter-arrival times are Exponentially distributed — the only memoryless continuous distribution.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960120"/>
            <a:ext cx="281635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4768" y="960120"/>
            <a:ext cx="2816352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4768" y="1051560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81928" y="16642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029968"/>
            <a:ext cx="2542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service (management) times are Exponentially distributed with rate μ. Combining Poisson arrivals + Exponential service defines the M/M/c model.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Markov (memoryless) property is the mathematical foundation that makes queueing models analytically tractable.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ED Crowding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patient volumes → prolonged waiting times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stochastic arrivals across hours &amp; seasons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2560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decisions based on intuition → chronic shortages or costly overstaffing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directly worsens clinical outcomes and patient satisfaction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22452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Study Context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481328"/>
            <a:ext cx="10972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89320" y="1481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 Gung Memorial Hospital, Taiwan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10972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89320" y="1984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beds — urban tertiary teaching center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87168"/>
            <a:ext cx="10972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Visits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~150,000 ED patients/year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90088"/>
            <a:ext cx="10972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2990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148,581 patients (full year 2013)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493008"/>
            <a:ext cx="1097280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8932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6,716 (4.3%) missing time records removed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Patient Queues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96112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896112"/>
            <a:ext cx="283464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Non-Trauma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" y="18928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visits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21762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99616" y="2176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 ± 19.7 yrs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" y="255117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99616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 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99616" y="2926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 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" y="3300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Eve / Ngt: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99616" y="33009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43.7% / 37.6% / 18.7%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4645152"/>
            <a:ext cx="2834640" cy="29260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6451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group; moderate, stable utilization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82112" y="896112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896112"/>
            <a:ext cx="28346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55264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Non-Trauma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73552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273552" y="18928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visits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1762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80560" y="2176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 ± 4.12 yrs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255117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0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 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480560" y="2926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 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300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Eve / Ngt: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80560" y="33009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/ 43.5% / 27.7%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82112" y="4645152"/>
            <a:ext cx="2834640" cy="29260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55264" y="46451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evening surge (43.5% arrive at evening shift)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896112"/>
            <a:ext cx="2834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63056" y="896112"/>
            <a:ext cx="283464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36208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54496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6254496" y="18928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visits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72784" y="21762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61504" y="21762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 ± 22.8 yrs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2784" y="255117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61504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 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72784" y="2926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61504" y="2926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 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72784" y="330098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Eve / Ngt: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61504" y="33009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42.2% / 45.0% / 12.8%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63056" y="4645152"/>
            <a:ext cx="2834640" cy="29260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36208" y="46451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service time; consistently low utilization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M/M/c Queueing Model Formulation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8163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502920" cy="50292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987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Markovian Arrivals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inter-arrival times ~ Exponential(λ)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count ~ Poisson(λ)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8163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987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Markovian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service times ~ Exponential(μ)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Memoryless property holds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914400"/>
            <a:ext cx="281635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960120"/>
            <a:ext cx="502920" cy="5029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0568" y="987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Servers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4813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n × s, where n = physician 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(attending=1, resident=0.5) and s=6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606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606040"/>
            <a:ext cx="411480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606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&amp; Transition Rates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30358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X(t) = number of patients in system (waiting + served)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Space: S = {0, 1, 2, 3, …}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7307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 rate (arrival):  λₙ = λ   for all n ≥ 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0782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 rate (service):  μₙ = n·μ   if n &lt; c    (n servers busy)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4256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μₙ = c·μ   if n ≥ c    (all servers busy)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4224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4224528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2606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Time-Stratified Approach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30358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24-hour day divided into 24 one-hour windows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33832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window: λ and n treated as constant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373075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M/M/c analysis per hour per patient entity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0782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strong diurnal fluctuations in ED operations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442569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condition checked per window: ρ &lt; 1 required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4114800" cy="3657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Intensity  ρ  (Central Metric)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λ / (c · μ)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arrival rate  |  </a:t>
            </a: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server count  |  </a:t>
            </a: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service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condition:  ρ &lt; 1  (required for steady state)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2245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24528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6592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Erlang-C Steady-State Probabilities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P(n) = (λ/μ)ⁿ / n!  · P₀       for 0 ≤ n &lt; 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719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P(n) = (λ/μ)ⁿ / (c! · cⁿ⁻ᶜ) · P₀  for n ≥ 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only when stability condition ρ &lt; 1 is satisfied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035808"/>
          <a:ext cx="8631936" cy="190195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Avg. queue length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Lq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Expected patients waiting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 system occupancy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 = Lq + λ/μ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All patients in 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Avg. wait (Little's Law)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Wq = Lq / λ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Mean time before seeing physician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Avg. time in system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 = Wq + 1/μ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 patient time in 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Server utilization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ρ = λ/(cμ)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Physician occupancy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State Classification — Part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82296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Markov Chain State Classification Framework to the M/M/c ED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420624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Reachability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316736"/>
            <a:ext cx="987552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31673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REACHABLE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any state 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 → n+1 with rate λ &gt; 0 (patient arrives)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 → n−1 with positive rate (service completion)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Every state j is reachable from every state 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3090672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3090672"/>
            <a:ext cx="420624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Closed Sets &amp; Absorbing States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64992" y="3218688"/>
            <a:ext cx="987552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32186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ABSORBING STATES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0 (empty ED) is NOT absorbing — new patients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arrive with rate λ &gt; 0.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closed set is the entire state space S = {0,1,2,...}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11887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0016" y="1188720"/>
            <a:ext cx="420624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9744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Irreducibility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08976" y="1316736"/>
            <a:ext cx="987552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08976" y="131673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IS IRREDUCIBLE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809744" y="1664208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are mutually reachable.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proper subsets exist.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cannot be trapped in any subset of states.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The chain is NOT reducible.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0016" y="3090672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0016" y="3090672"/>
            <a:ext cx="4206240" cy="640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9744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Periodicity &amp; Aperiodicity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08976" y="3218688"/>
            <a:ext cx="987552" cy="2560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08976" y="32186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APERIODIC  (d = 1)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809744" y="3566160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times to state 0: {1, 2, 3, ...} → GCD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All states are aperiodic.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consequence of Poisson arrivals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service (no fixed periodic structure).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State Classification — Part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8631936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68680"/>
            <a:ext cx="8631936" cy="36576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Recurrence, Transience &amp; Ergodicity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011680" cy="420624"/>
          </a:xfrm>
          <a:prstGeom prst="rect">
            <a:avLst/>
          </a:prstGeom>
          <a:solidFill>
            <a:srgbClr val="1A7A4A">
              <a:alpha val="13000"/>
            </a:srgbClr>
          </a:solidFill>
          <a:ln w="12700">
            <a:solidFill>
              <a:srgbClr val="1A7A4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&lt; 1  (Stable)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1325880"/>
            <a:ext cx="210312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13258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Recurrent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13258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expected return time; steady-state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37944"/>
            <a:ext cx="2011680" cy="420624"/>
          </a:xfrm>
          <a:prstGeom prst="rect">
            <a:avLst/>
          </a:prstGeom>
          <a:solidFill>
            <a:srgbClr val="E67E22">
              <a:alpha val="13000"/>
            </a:srgbClr>
          </a:solidFill>
          <a:ln w="12700">
            <a:solidFill>
              <a:srgbClr val="E67E2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8379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1  (Critical)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1837944"/>
            <a:ext cx="210312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0" y="18379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Recurrent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1837944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with prob. 1 but expected return time = 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50008"/>
            <a:ext cx="2011680" cy="420624"/>
          </a:xfrm>
          <a:prstGeom prst="rect">
            <a:avLst/>
          </a:prstGeom>
          <a:solidFill>
            <a:srgbClr val="C0392B">
              <a:alpha val="13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3500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&gt; 1  (Unstable)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2350008"/>
            <a:ext cx="210312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0" y="23500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35000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grows without bound — pediatric section at 11 PM (ρ=1.4)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1546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3154680"/>
            <a:ext cx="4206240" cy="38404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Ergodicity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" y="361188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is ergodic if aperiodic (d=1) AND positive recurrent.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394106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M/M/c chain is aperiodic throughout (shown in Part 1).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42702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ρ &lt; 1: all states are positive recurrent.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4599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All states are ergodic when ρ &lt; 1 → the chain is an ERGODIC CHAIN.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0016" y="31546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3154680"/>
            <a:ext cx="420624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Limiting (Steady-State) Probabilities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91456" y="361188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irreducible, aperiodic, positive recurrent chains: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91456" y="394106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πⱼ = lim P(X(t) = j) exists, is unique, independent of initial state.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42702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Erlang-C probabilities P(n).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91456" y="45994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requires ρ &lt; 1 — confirming why utilization control is critical.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Classification Summary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2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Irreducible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✅  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All states mutually reachable via arrivals and service completions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Reducible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❌  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 closed proper subsets exist in the state space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Absorbing States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❌  NONE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 state has pᵢᵢ = 1; patients always arrive (λ &gt; 0)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Periodic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</a:rPr>
                        <a:t>❌  NO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Return times to any state have GCD =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Aperiodic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✅  d =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Poisson arrivals + Exponential service ensure aperiodicity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Recurrent (ρ &lt; 1)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✅  Positive Recurrent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Finite expected return times; steady-state distribution exists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Recurrent (ρ ≥ 1)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</a:rPr>
                        <a:t>⚠️  Null Rec. / Transient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Infinite return time / queue grows without bound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Ergodic (ρ &lt; 1)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✅  YES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Aperiodic + Positive Recurrent → unique steady-state probabilities exist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Steady-State Dist.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7A4A"/>
                          </a:solidFill>
                        </a:rPr>
                        <a:t>✅  iff ρ &lt;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Erlang-C formula gives P(n) for all n ∈ {0, 1, 2, ...}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System Performance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029968" cy="54864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0058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Waiting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" y="12984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" y="1719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minutes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32304" y="9144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32304" y="914400"/>
            <a:ext cx="2029968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05456" y="10058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Service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05456" y="12984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 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05456" y="1719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management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914400"/>
            <a:ext cx="2029968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10058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Disposition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1728" y="12984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 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81728" y="1719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ED stay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84848" y="9144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84848" y="914400"/>
            <a:ext cx="2029968" cy="54864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00584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Prob. 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12984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 pts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17190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In-system distribution peak</a:t>
            </a:r>
            <a:endParaRPr lang="en-US" sz="8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56032" y="2468880"/>
          <a:ext cx="5303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669280" y="2468880"/>
            <a:ext cx="321868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669280" y="2468880"/>
            <a:ext cx="3218688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42432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742432" y="2926080"/>
            <a:ext cx="822960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42432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629400" y="2926080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ρ=0.75 ± 0.17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629400" y="316382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&amp; stable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742432" y="3593592"/>
            <a:ext cx="8229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742432" y="35935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629400" y="3593592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up to 1.4 ⚠️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629400" y="383133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at 11 PM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742432" y="4261104"/>
            <a:ext cx="822960" cy="5029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742432" y="426110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629400" y="4261104"/>
            <a:ext cx="2176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ρ=0.53 ± 0.18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629400" y="449884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(intentional)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Finding: Pediatric Physician Shortage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377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23774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02412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1.4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56032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section at 11 PM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148840"/>
            <a:ext cx="219456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UNSTABLE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grows without bound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788920" y="914400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7223760" y="914400"/>
            <a:ext cx="1691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223760" y="914400"/>
            <a:ext cx="1691640" cy="365760"/>
          </a:xfrm>
          <a:prstGeom prst="rect">
            <a:avLst/>
          </a:prstGeom>
          <a:solidFill>
            <a:srgbClr val="4A0E8F"/>
          </a:solidFill>
          <a:ln w="12700">
            <a:solidFill>
              <a:srgbClr val="4A0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23760" y="914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269480" y="1325880"/>
            <a:ext cx="16002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≥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leaves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A0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ergodic regime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6032" y="3154680"/>
            <a:ext cx="8631936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56032" y="3154680"/>
            <a:ext cx="8631936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7472" y="3154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Mechanism &amp; Actionable Recommendation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6576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91640" y="3584448"/>
            <a:ext cx="7086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parents bring ill children to the ED after office hours → sharp spike in λ during 9 PM–midnight while physician count c remains constant or decreases on the evening shift → ρ = λ/(cμ) breaches the stability boundary.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6576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874520" y="3977640"/>
            <a:ext cx="6903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pediatric physician staffing during 9 PM – midnight window to restore ρ &lt; 1 and return the Markov chain to its ergodic regime.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Section: Evidence of Overstaffing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1945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0.53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6032" y="175564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utilization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(range: 0.2 – 0.6)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606040" y="914400"/>
          <a:ext cx="6400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256032" y="2807208"/>
            <a:ext cx="8631936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6032" y="2807208"/>
            <a:ext cx="8631936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" y="28072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Analysis &amp; Recommendations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3218688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low utilization (ρ = 0.53 ± 0.18) — ranging only 0.2 to 0.6 across all hours.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639312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ρ for trauma is operationally justified — trauma cases are less predictable and more immediately life-threatening, requiring reserve capacity.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059936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magnitude suggests potential for resource optimization during low-volume overnight hours.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480560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Strategically reallocate some trauma physician capacity to the pediatric section during the 9 PM–midnight surge.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Work: Building on the Research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326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530352" cy="129844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 rot="16200000">
            <a:off x="256032" y="9326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0241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Staffing Recommendation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3898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minimum physicians n* per hour to restore ρ &lt; 1 at each critical evening hour, targeting ρ_target = 0.80. Translate into a revised shift schedule.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⌈ λₕ / (s · μ · ρ_target) 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9326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932688"/>
            <a:ext cx="530352" cy="12984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 rot="16200000">
            <a:off x="4700016" y="9326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4376" y="10241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Reallocation: Cross-Entity Sharing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94376" y="13898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trauma-to-pediatric physician sharing during 9 PM–midnight surge. Formalize as a two-queue optimization. MDP frameworks enable dynamic resource allocation.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304288"/>
            <a:ext cx="530352" cy="12984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 rot="16200000">
            <a:off x="256032" y="23042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2395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Queueing 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27614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full patient flow: Triage → Waiting → Treatment → Observation → Discharge/Admission as a Jackson network. Captures 'boarding problem' and bottleneck identification.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0016" y="23042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0016" y="2304288"/>
            <a:ext cx="530352" cy="129844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 rot="16200000">
            <a:off x="4700016" y="23042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94376" y="2395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Triage-Level Stratification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27614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separate M/M/c sub-models per TTAS triage level (1–5) within each entity. Produces more precise utilization and targeted staffing for each acuity class.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6758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530352" cy="1298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16200000">
            <a:off x="256032" y="36758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" y="37673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Dynamic Staffing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" y="41330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λ(t) → compute ρ(t) in real-time → trigger alert when ρ → 0.9. Transforms the model from retrospective planning to prospective operational control.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0016" y="367588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3675888"/>
            <a:ext cx="530352" cy="12984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 rot="16200000">
            <a:off x="4700016" y="3675888"/>
            <a:ext cx="530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37673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Multi-Centre Generalizability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94376" y="41330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model across multiple ED settings to assess robustness of findings. If pediatric evening surges emerge consistently, develop universal staffing guidelines.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2926080" cy="292608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931920"/>
            <a:ext cx="1828800" cy="1828800"/>
          </a:xfrm>
          <a:prstGeom prst="ellipse">
            <a:avLst/>
          </a:prstGeom>
          <a:solidFill>
            <a:srgbClr val="3B82C4">
              <a:alpha val="40000"/>
            </a:srgbClr>
          </a:solidFill>
          <a:ln w="12700">
            <a:solidFill>
              <a:srgbClr val="3B82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5029200" cy="0"/>
          </a:xfrm>
          <a:prstGeom prst="line">
            <a:avLst/>
          </a:prstGeom>
          <a:noFill/>
          <a:ln w="1905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M/M/c queueing model successfully applied to a real-world ED — 148,581 patients, time-stratified hourly analysis across 3 patient entities.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M/M/c model is a continuous-time Markov chain — irreducible, aperiodic, and ergodic under normal operating conditions (ρ &lt; 1).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308999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Markov Chain State Classification (Lecture 9) formally explains why stability breaks at ρ ≥ 1: the chain transitions from ergodic to transient regime.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98094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finding: Pediatric ρ = 1.4 at 11 PM — an unstable transient regime driven by parent work schedules. Steady-state ceases to exist.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6393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Trauma section is systematically underutilized (ρ ≈ 0.53) — resource reallocation to pediatric evening shift is a concrete, quantitative policy recommendation.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297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Further work: real-time adaptive staffing, queueing network extension, triage-level stratification, and multi-centre validation.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889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Models (DS323/DS361)  ·  Dr. Olivia Morad  ·  Academic Year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2161</Words>
  <Application>Microsoft Office PowerPoint</Application>
  <PresentationFormat>On-screen Show (16:9)</PresentationFormat>
  <Paragraphs>332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Intensity of Patients and Physicians in the Emergency Department</dc:title>
  <dc:subject>PptxGenJS Presentation</dc:subject>
  <dc:creator>DS323 / DS361 Stochastic Models</dc:creator>
  <cp:lastModifiedBy>مصطفى محمد عامر سيد</cp:lastModifiedBy>
  <cp:revision>2</cp:revision>
  <dcterms:created xsi:type="dcterms:W3CDTF">2026-04-26T19:34:59Z</dcterms:created>
  <dcterms:modified xsi:type="dcterms:W3CDTF">2026-04-26T19:43:37Z</dcterms:modified>
</cp:coreProperties>
</file>