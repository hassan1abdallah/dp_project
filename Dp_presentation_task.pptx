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0"/>
  </p:notesMasterIdLst>
  <p:sldIdLst>
    <p:sldId id="256" r:id="rId2"/>
    <p:sldId id="259" r:id="rId3"/>
    <p:sldId id="295" r:id="rId4"/>
    <p:sldId id="296" r:id="rId5"/>
    <p:sldId id="294" r:id="rId6"/>
    <p:sldId id="297" r:id="rId7"/>
    <p:sldId id="298" r:id="rId8"/>
    <p:sldId id="300" r:id="rId9"/>
  </p:sldIdLst>
  <p:sldSz cx="9144000" cy="5143500" type="screen16x9"/>
  <p:notesSz cx="6858000" cy="9144000"/>
  <p:embeddedFontLst>
    <p:embeddedFont>
      <p:font typeface="Abel" panose="020B0604020202020204" charset="0"/>
      <p:regular r:id="rId11"/>
    </p:embeddedFont>
    <p:embeddedFont>
      <p:font typeface="Anaheim" panose="020B0604020202020204" charset="0"/>
      <p:regular r:id="rId12"/>
      <p:bold r:id="rId13"/>
    </p:embeddedFont>
    <p:embeddedFont>
      <p:font typeface="Anton" pitchFamily="2" charset="0"/>
      <p:regular r:id="rId14"/>
    </p:embeddedFont>
    <p:embeddedFont>
      <p:font typeface="Cambria Math" panose="02040503050406030204" pitchFamily="18" charset="0"/>
      <p:regular r:id="rId15"/>
    </p:embeddedFont>
    <p:embeddedFont>
      <p:font typeface="Josefin Sans" pitchFamily="2" charset="0"/>
      <p:regular r:id="rId16"/>
      <p:bold r:id="rId17"/>
      <p:italic r:id="rId18"/>
      <p:boldItalic r:id="rId19"/>
    </p:embeddedFont>
    <p:embeddedFont>
      <p:font typeface="Josefin Slab" pitchFamily="2" charset="0"/>
      <p:regular r:id="rId20"/>
      <p:bold r:id="rId21"/>
      <p:italic r:id="rId22"/>
      <p:boldItalic r:id="rId23"/>
    </p:embeddedFont>
    <p:embeddedFont>
      <p:font typeface="Josefin Slab SemiBold" pitchFamily="2" charset="0"/>
      <p:bold r:id="rId24"/>
      <p:boldItalic r:id="rId25"/>
    </p:embeddedFont>
    <p:embeddedFont>
      <p:font typeface="Nunito" pitchFamily="2" charset="0"/>
      <p:regular r:id="rId26"/>
      <p:bold r:id="rId27"/>
      <p:italic r:id="rId28"/>
      <p:boldItalic r:id="rId29"/>
    </p:embeddedFont>
    <p:embeddedFont>
      <p:font typeface="Nunito Bold" charset="0"/>
      <p:bold r:id="rId30"/>
    </p:embeddedFont>
    <p:embeddedFont>
      <p:font typeface="Staatliches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F52D05-16ED-402E-8A67-335F77777A67}">
  <a:tblStyle styleId="{5AF52D05-16ED-402E-8A67-335F77777A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21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92034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62627ebac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62627ebac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62627ebac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62627ebac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62627ebac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62627ebac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62627ebac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62627ebac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174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33000" y="1050513"/>
            <a:ext cx="3248400" cy="24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sz="5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3000" y="3299563"/>
            <a:ext cx="33267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TEXT">
  <p:cSld name="CUSTOM_7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 flipH="1">
            <a:off x="889350" y="1030050"/>
            <a:ext cx="7409100" cy="28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Josefin Slab"/>
              <a:buAutoNum type="arabicPeriod"/>
              <a:defRPr sz="11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4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TEXT 1">
  <p:cSld name="CUSTOM_14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464755" y="1059200"/>
            <a:ext cx="6214500" cy="2718600"/>
          </a:xfrm>
          <a:prstGeom prst="roundRect">
            <a:avLst>
              <a:gd name="adj" fmla="val 431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37395" y="1645788"/>
            <a:ext cx="46692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24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2562675" y="2190023"/>
            <a:ext cx="4018200" cy="130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20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1555780" y="983325"/>
            <a:ext cx="6214500" cy="2718600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>
            <a:alpha val="45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sz="2800" b="1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●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○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■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●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○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■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●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naheim"/>
              <a:buChar char="○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200"/>
              <a:buFont typeface="Anaheim"/>
              <a:buChar char="■"/>
              <a:defRPr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66" r:id="rId4"/>
    <p:sldLayoutId id="214748366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5419776" y="1223615"/>
            <a:ext cx="3029400" cy="2370300"/>
          </a:xfrm>
          <a:prstGeom prst="roundRect">
            <a:avLst>
              <a:gd name="adj" fmla="val 147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" name="Google Shape;141;p26"/>
          <p:cNvGrpSpPr/>
          <p:nvPr/>
        </p:nvGrpSpPr>
        <p:grpSpPr>
          <a:xfrm>
            <a:off x="5331425" y="961515"/>
            <a:ext cx="3029365" cy="2547136"/>
            <a:chOff x="4741999" y="986350"/>
            <a:chExt cx="3029365" cy="2547136"/>
          </a:xfrm>
        </p:grpSpPr>
        <p:sp>
          <p:nvSpPr>
            <p:cNvPr id="142" name="Google Shape;142;p26"/>
            <p:cNvSpPr/>
            <p:nvPr/>
          </p:nvSpPr>
          <p:spPr>
            <a:xfrm>
              <a:off x="4742978" y="1175558"/>
              <a:ext cx="3028387" cy="2357928"/>
            </a:xfrm>
            <a:custGeom>
              <a:avLst/>
              <a:gdLst/>
              <a:ahLst/>
              <a:cxnLst/>
              <a:rect l="l" t="t" r="r" b="b"/>
              <a:pathLst>
                <a:path w="69027" h="53745" extrusionOk="0">
                  <a:moveTo>
                    <a:pt x="1" y="1"/>
                  </a:moveTo>
                  <a:lnTo>
                    <a:pt x="1" y="62"/>
                  </a:lnTo>
                  <a:cubicBezTo>
                    <a:pt x="1" y="19391"/>
                    <a:pt x="5" y="37676"/>
                    <a:pt x="5" y="53688"/>
                  </a:cubicBezTo>
                  <a:lnTo>
                    <a:pt x="5" y="53744"/>
                  </a:lnTo>
                  <a:lnTo>
                    <a:pt x="57" y="53744"/>
                  </a:lnTo>
                  <a:cubicBezTo>
                    <a:pt x="40966" y="53710"/>
                    <a:pt x="68520" y="53692"/>
                    <a:pt x="68978" y="53692"/>
                  </a:cubicBezTo>
                  <a:cubicBezTo>
                    <a:pt x="68520" y="53688"/>
                    <a:pt x="40990" y="53671"/>
                    <a:pt x="110" y="53639"/>
                  </a:cubicBezTo>
                  <a:lnTo>
                    <a:pt x="110" y="53639"/>
                  </a:lnTo>
                  <a:cubicBezTo>
                    <a:pt x="114" y="37655"/>
                    <a:pt x="114" y="19407"/>
                    <a:pt x="118" y="118"/>
                  </a:cubicBezTo>
                  <a:lnTo>
                    <a:pt x="118" y="118"/>
                  </a:lnTo>
                  <a:cubicBezTo>
                    <a:pt x="25637" y="114"/>
                    <a:pt x="49338" y="110"/>
                    <a:pt x="68928" y="110"/>
                  </a:cubicBezTo>
                  <a:lnTo>
                    <a:pt x="68930" y="110"/>
                  </a:lnTo>
                  <a:cubicBezTo>
                    <a:pt x="68961" y="32457"/>
                    <a:pt x="68978" y="53290"/>
                    <a:pt x="68978" y="53692"/>
                  </a:cubicBezTo>
                  <a:cubicBezTo>
                    <a:pt x="68978" y="53290"/>
                    <a:pt x="69000" y="32436"/>
                    <a:pt x="69026" y="62"/>
                  </a:cubicBezTo>
                  <a:lnTo>
                    <a:pt x="69026" y="14"/>
                  </a:lnTo>
                  <a:lnTo>
                    <a:pt x="68978" y="14"/>
                  </a:lnTo>
                  <a:cubicBezTo>
                    <a:pt x="49365" y="9"/>
                    <a:pt x="25627" y="5"/>
                    <a:pt x="6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5574260" y="2190926"/>
              <a:ext cx="5265" cy="1142615"/>
            </a:xfrm>
            <a:custGeom>
              <a:avLst/>
              <a:gdLst/>
              <a:ahLst/>
              <a:cxnLst/>
              <a:rect l="l" t="t" r="r" b="b"/>
              <a:pathLst>
                <a:path w="120" h="26044" extrusionOk="0">
                  <a:moveTo>
                    <a:pt x="63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63" y="26043"/>
                  </a:cubicBezTo>
                  <a:cubicBezTo>
                    <a:pt x="93" y="26043"/>
                    <a:pt x="119" y="20213"/>
                    <a:pt x="119" y="13024"/>
                  </a:cubicBezTo>
                  <a:cubicBezTo>
                    <a:pt x="119" y="5831"/>
                    <a:pt x="93" y="1"/>
                    <a:pt x="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6886640" y="2190926"/>
              <a:ext cx="5001" cy="1142615"/>
            </a:xfrm>
            <a:custGeom>
              <a:avLst/>
              <a:gdLst/>
              <a:ahLst/>
              <a:cxnLst/>
              <a:rect l="l" t="t" r="r" b="b"/>
              <a:pathLst>
                <a:path w="114" h="26044" extrusionOk="0">
                  <a:moveTo>
                    <a:pt x="57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57" y="26043"/>
                  </a:cubicBezTo>
                  <a:cubicBezTo>
                    <a:pt x="88" y="26043"/>
                    <a:pt x="114" y="20213"/>
                    <a:pt x="114" y="13024"/>
                  </a:cubicBezTo>
                  <a:cubicBezTo>
                    <a:pt x="114" y="5831"/>
                    <a:pt x="88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6022366" y="1872856"/>
              <a:ext cx="5177" cy="1460691"/>
            </a:xfrm>
            <a:custGeom>
              <a:avLst/>
              <a:gdLst/>
              <a:ahLst/>
              <a:cxnLst/>
              <a:rect l="l" t="t" r="r" b="b"/>
              <a:pathLst>
                <a:path w="118" h="33294" extrusionOk="0">
                  <a:moveTo>
                    <a:pt x="57" y="1"/>
                  </a:moveTo>
                  <a:cubicBezTo>
                    <a:pt x="27" y="1"/>
                    <a:pt x="0" y="7452"/>
                    <a:pt x="0" y="16647"/>
                  </a:cubicBezTo>
                  <a:cubicBezTo>
                    <a:pt x="0" y="25841"/>
                    <a:pt x="27" y="33293"/>
                    <a:pt x="57" y="33293"/>
                  </a:cubicBezTo>
                  <a:cubicBezTo>
                    <a:pt x="92" y="33293"/>
                    <a:pt x="118" y="25841"/>
                    <a:pt x="118" y="16647"/>
                  </a:cubicBezTo>
                  <a:cubicBezTo>
                    <a:pt x="118" y="7452"/>
                    <a:pt x="92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7401651" y="1872856"/>
              <a:ext cx="5177" cy="1460691"/>
            </a:xfrm>
            <a:custGeom>
              <a:avLst/>
              <a:gdLst/>
              <a:ahLst/>
              <a:cxnLst/>
              <a:rect l="l" t="t" r="r" b="b"/>
              <a:pathLst>
                <a:path w="118" h="33294" extrusionOk="0">
                  <a:moveTo>
                    <a:pt x="57" y="1"/>
                  </a:moveTo>
                  <a:cubicBezTo>
                    <a:pt x="26" y="1"/>
                    <a:pt x="0" y="7452"/>
                    <a:pt x="0" y="16647"/>
                  </a:cubicBezTo>
                  <a:cubicBezTo>
                    <a:pt x="0" y="25841"/>
                    <a:pt x="26" y="33293"/>
                    <a:pt x="57" y="33293"/>
                  </a:cubicBezTo>
                  <a:cubicBezTo>
                    <a:pt x="91" y="33293"/>
                    <a:pt x="118" y="25841"/>
                    <a:pt x="118" y="16647"/>
                  </a:cubicBezTo>
                  <a:cubicBezTo>
                    <a:pt x="118" y="7452"/>
                    <a:pt x="91" y="1"/>
                    <a:pt x="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6415194" y="1647223"/>
              <a:ext cx="5221" cy="1686327"/>
            </a:xfrm>
            <a:custGeom>
              <a:avLst/>
              <a:gdLst/>
              <a:ahLst/>
              <a:cxnLst/>
              <a:rect l="l" t="t" r="r" b="b"/>
              <a:pathLst>
                <a:path w="119" h="38437" extrusionOk="0">
                  <a:moveTo>
                    <a:pt x="57" y="0"/>
                  </a:moveTo>
                  <a:cubicBezTo>
                    <a:pt x="27" y="0"/>
                    <a:pt x="0" y="8601"/>
                    <a:pt x="0" y="19216"/>
                  </a:cubicBezTo>
                  <a:cubicBezTo>
                    <a:pt x="0" y="29830"/>
                    <a:pt x="27" y="38436"/>
                    <a:pt x="57" y="38436"/>
                  </a:cubicBezTo>
                  <a:cubicBezTo>
                    <a:pt x="93" y="38436"/>
                    <a:pt x="119" y="29830"/>
                    <a:pt x="119" y="19216"/>
                  </a:cubicBezTo>
                  <a:cubicBezTo>
                    <a:pt x="119" y="8601"/>
                    <a:pt x="93" y="0"/>
                    <a:pt x="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6406946" y="1636475"/>
              <a:ext cx="21541" cy="21322"/>
            </a:xfrm>
            <a:custGeom>
              <a:avLst/>
              <a:gdLst/>
              <a:ahLst/>
              <a:cxnLst/>
              <a:rect l="l" t="t" r="r" b="b"/>
              <a:pathLst>
                <a:path w="491" h="486" extrusionOk="0">
                  <a:moveTo>
                    <a:pt x="245" y="0"/>
                  </a:moveTo>
                  <a:cubicBezTo>
                    <a:pt x="110" y="0"/>
                    <a:pt x="1" y="110"/>
                    <a:pt x="1" y="245"/>
                  </a:cubicBezTo>
                  <a:cubicBezTo>
                    <a:pt x="1" y="377"/>
                    <a:pt x="110" y="486"/>
                    <a:pt x="245" y="486"/>
                  </a:cubicBezTo>
                  <a:cubicBezTo>
                    <a:pt x="381" y="486"/>
                    <a:pt x="490" y="377"/>
                    <a:pt x="490" y="245"/>
                  </a:cubicBezTo>
                  <a:cubicBezTo>
                    <a:pt x="490" y="110"/>
                    <a:pt x="381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4916447" y="2115949"/>
              <a:ext cx="2589355" cy="652691"/>
            </a:xfrm>
            <a:custGeom>
              <a:avLst/>
              <a:gdLst/>
              <a:ahLst/>
              <a:cxnLst/>
              <a:rect l="l" t="t" r="r" b="b"/>
              <a:pathLst>
                <a:path w="59020" h="14877" extrusionOk="0">
                  <a:moveTo>
                    <a:pt x="33314" y="1"/>
                  </a:moveTo>
                  <a:cubicBezTo>
                    <a:pt x="32852" y="1"/>
                    <a:pt x="32390" y="48"/>
                    <a:pt x="31929" y="142"/>
                  </a:cubicBezTo>
                  <a:cubicBezTo>
                    <a:pt x="31261" y="285"/>
                    <a:pt x="30614" y="535"/>
                    <a:pt x="30011" y="870"/>
                  </a:cubicBezTo>
                  <a:cubicBezTo>
                    <a:pt x="28805" y="1557"/>
                    <a:pt x="27847" y="2558"/>
                    <a:pt x="27061" y="3619"/>
                  </a:cubicBezTo>
                  <a:cubicBezTo>
                    <a:pt x="26266" y="4682"/>
                    <a:pt x="25628" y="5818"/>
                    <a:pt x="25007" y="6927"/>
                  </a:cubicBezTo>
                  <a:cubicBezTo>
                    <a:pt x="24400" y="8042"/>
                    <a:pt x="23766" y="9104"/>
                    <a:pt x="23067" y="10096"/>
                  </a:cubicBezTo>
                  <a:cubicBezTo>
                    <a:pt x="22363" y="11084"/>
                    <a:pt x="21607" y="12006"/>
                    <a:pt x="20741" y="12766"/>
                  </a:cubicBezTo>
                  <a:cubicBezTo>
                    <a:pt x="19881" y="13518"/>
                    <a:pt x="18915" y="14130"/>
                    <a:pt x="17867" y="14392"/>
                  </a:cubicBezTo>
                  <a:cubicBezTo>
                    <a:pt x="17609" y="14475"/>
                    <a:pt x="17342" y="14505"/>
                    <a:pt x="17084" y="14545"/>
                  </a:cubicBezTo>
                  <a:cubicBezTo>
                    <a:pt x="16953" y="14571"/>
                    <a:pt x="16818" y="14563"/>
                    <a:pt x="16687" y="14567"/>
                  </a:cubicBezTo>
                  <a:cubicBezTo>
                    <a:pt x="16581" y="14571"/>
                    <a:pt x="16475" y="14577"/>
                    <a:pt x="16371" y="14577"/>
                  </a:cubicBezTo>
                  <a:cubicBezTo>
                    <a:pt x="16346" y="14577"/>
                    <a:pt x="16322" y="14576"/>
                    <a:pt x="16298" y="14576"/>
                  </a:cubicBezTo>
                  <a:cubicBezTo>
                    <a:pt x="15773" y="14554"/>
                    <a:pt x="15267" y="14453"/>
                    <a:pt x="14781" y="14305"/>
                  </a:cubicBezTo>
                  <a:cubicBezTo>
                    <a:pt x="13811" y="13995"/>
                    <a:pt x="12950" y="13483"/>
                    <a:pt x="12155" y="12950"/>
                  </a:cubicBezTo>
                  <a:cubicBezTo>
                    <a:pt x="11364" y="12417"/>
                    <a:pt x="10630" y="11853"/>
                    <a:pt x="9908" y="11342"/>
                  </a:cubicBezTo>
                  <a:cubicBezTo>
                    <a:pt x="9188" y="10830"/>
                    <a:pt x="8466" y="10368"/>
                    <a:pt x="7723" y="10048"/>
                  </a:cubicBezTo>
                  <a:cubicBezTo>
                    <a:pt x="6989" y="9725"/>
                    <a:pt x="6247" y="9523"/>
                    <a:pt x="5533" y="9458"/>
                  </a:cubicBezTo>
                  <a:cubicBezTo>
                    <a:pt x="5331" y="9439"/>
                    <a:pt x="5131" y="9430"/>
                    <a:pt x="4936" y="9430"/>
                  </a:cubicBezTo>
                  <a:cubicBezTo>
                    <a:pt x="4448" y="9430"/>
                    <a:pt x="3985" y="9489"/>
                    <a:pt x="3567" y="9611"/>
                  </a:cubicBezTo>
                  <a:cubicBezTo>
                    <a:pt x="3419" y="9642"/>
                    <a:pt x="3284" y="9712"/>
                    <a:pt x="3143" y="9755"/>
                  </a:cubicBezTo>
                  <a:cubicBezTo>
                    <a:pt x="3008" y="9812"/>
                    <a:pt x="2868" y="9847"/>
                    <a:pt x="2750" y="9922"/>
                  </a:cubicBezTo>
                  <a:cubicBezTo>
                    <a:pt x="2510" y="10057"/>
                    <a:pt x="2261" y="10158"/>
                    <a:pt x="2068" y="10319"/>
                  </a:cubicBezTo>
                  <a:cubicBezTo>
                    <a:pt x="1644" y="10590"/>
                    <a:pt x="1334" y="10909"/>
                    <a:pt x="1055" y="11167"/>
                  </a:cubicBezTo>
                  <a:cubicBezTo>
                    <a:pt x="932" y="11316"/>
                    <a:pt x="814" y="11447"/>
                    <a:pt x="709" y="11569"/>
                  </a:cubicBezTo>
                  <a:cubicBezTo>
                    <a:pt x="609" y="11695"/>
                    <a:pt x="508" y="11800"/>
                    <a:pt x="438" y="11915"/>
                  </a:cubicBezTo>
                  <a:cubicBezTo>
                    <a:pt x="294" y="12129"/>
                    <a:pt x="184" y="12290"/>
                    <a:pt x="111" y="12403"/>
                  </a:cubicBezTo>
                  <a:cubicBezTo>
                    <a:pt x="36" y="12518"/>
                    <a:pt x="1" y="12574"/>
                    <a:pt x="6" y="12579"/>
                  </a:cubicBezTo>
                  <a:cubicBezTo>
                    <a:pt x="6" y="12579"/>
                    <a:pt x="6" y="12579"/>
                    <a:pt x="7" y="12579"/>
                  </a:cubicBezTo>
                  <a:cubicBezTo>
                    <a:pt x="14" y="12579"/>
                    <a:pt x="61" y="12526"/>
                    <a:pt x="137" y="12425"/>
                  </a:cubicBezTo>
                  <a:cubicBezTo>
                    <a:pt x="220" y="12316"/>
                    <a:pt x="337" y="12159"/>
                    <a:pt x="495" y="11958"/>
                  </a:cubicBezTo>
                  <a:cubicBezTo>
                    <a:pt x="569" y="11849"/>
                    <a:pt x="670" y="11744"/>
                    <a:pt x="779" y="11626"/>
                  </a:cubicBezTo>
                  <a:cubicBezTo>
                    <a:pt x="884" y="11508"/>
                    <a:pt x="1002" y="11381"/>
                    <a:pt x="1128" y="11241"/>
                  </a:cubicBezTo>
                  <a:cubicBezTo>
                    <a:pt x="1413" y="10992"/>
                    <a:pt x="1723" y="10691"/>
                    <a:pt x="2143" y="10433"/>
                  </a:cubicBezTo>
                  <a:cubicBezTo>
                    <a:pt x="2334" y="10280"/>
                    <a:pt x="2580" y="10188"/>
                    <a:pt x="2816" y="10057"/>
                  </a:cubicBezTo>
                  <a:cubicBezTo>
                    <a:pt x="2929" y="9991"/>
                    <a:pt x="3069" y="9961"/>
                    <a:pt x="3200" y="9908"/>
                  </a:cubicBezTo>
                  <a:cubicBezTo>
                    <a:pt x="3336" y="9864"/>
                    <a:pt x="3462" y="9799"/>
                    <a:pt x="3611" y="9773"/>
                  </a:cubicBezTo>
                  <a:cubicBezTo>
                    <a:pt x="3999" y="9668"/>
                    <a:pt x="4425" y="9617"/>
                    <a:pt x="4875" y="9617"/>
                  </a:cubicBezTo>
                  <a:cubicBezTo>
                    <a:pt x="5085" y="9617"/>
                    <a:pt x="5299" y="9628"/>
                    <a:pt x="5517" y="9650"/>
                  </a:cubicBezTo>
                  <a:cubicBezTo>
                    <a:pt x="6198" y="9725"/>
                    <a:pt x="6919" y="9930"/>
                    <a:pt x="7636" y="10253"/>
                  </a:cubicBezTo>
                  <a:cubicBezTo>
                    <a:pt x="8353" y="10572"/>
                    <a:pt x="9052" y="11027"/>
                    <a:pt x="9764" y="11542"/>
                  </a:cubicBezTo>
                  <a:cubicBezTo>
                    <a:pt x="10477" y="12058"/>
                    <a:pt x="11207" y="12627"/>
                    <a:pt x="12006" y="13177"/>
                  </a:cubicBezTo>
                  <a:cubicBezTo>
                    <a:pt x="12806" y="13719"/>
                    <a:pt x="13684" y="14253"/>
                    <a:pt x="14694" y="14580"/>
                  </a:cubicBezTo>
                  <a:cubicBezTo>
                    <a:pt x="15200" y="14737"/>
                    <a:pt x="15733" y="14851"/>
                    <a:pt x="16284" y="14872"/>
                  </a:cubicBezTo>
                  <a:cubicBezTo>
                    <a:pt x="16326" y="14875"/>
                    <a:pt x="16369" y="14876"/>
                    <a:pt x="16412" y="14876"/>
                  </a:cubicBezTo>
                  <a:cubicBezTo>
                    <a:pt x="16507" y="14876"/>
                    <a:pt x="16603" y="14871"/>
                    <a:pt x="16699" y="14868"/>
                  </a:cubicBezTo>
                  <a:cubicBezTo>
                    <a:pt x="16835" y="14864"/>
                    <a:pt x="16975" y="14872"/>
                    <a:pt x="17115" y="14846"/>
                  </a:cubicBezTo>
                  <a:cubicBezTo>
                    <a:pt x="17390" y="14807"/>
                    <a:pt x="17674" y="14777"/>
                    <a:pt x="17945" y="14689"/>
                  </a:cubicBezTo>
                  <a:cubicBezTo>
                    <a:pt x="18500" y="14563"/>
                    <a:pt x="19025" y="14318"/>
                    <a:pt x="19531" y="14039"/>
                  </a:cubicBezTo>
                  <a:cubicBezTo>
                    <a:pt x="19781" y="13885"/>
                    <a:pt x="20033" y="13741"/>
                    <a:pt x="20265" y="13557"/>
                  </a:cubicBezTo>
                  <a:cubicBezTo>
                    <a:pt x="20505" y="13391"/>
                    <a:pt x="20729" y="13200"/>
                    <a:pt x="20956" y="13007"/>
                  </a:cubicBezTo>
                  <a:cubicBezTo>
                    <a:pt x="21852" y="12229"/>
                    <a:pt x="22625" y="11290"/>
                    <a:pt x="23343" y="10293"/>
                  </a:cubicBezTo>
                  <a:cubicBezTo>
                    <a:pt x="24051" y="9287"/>
                    <a:pt x="24697" y="8208"/>
                    <a:pt x="25309" y="7094"/>
                  </a:cubicBezTo>
                  <a:cubicBezTo>
                    <a:pt x="25929" y="5989"/>
                    <a:pt x="26562" y="4865"/>
                    <a:pt x="27341" y="3825"/>
                  </a:cubicBezTo>
                  <a:cubicBezTo>
                    <a:pt x="28109" y="2790"/>
                    <a:pt x="29041" y="1828"/>
                    <a:pt x="30186" y="1177"/>
                  </a:cubicBezTo>
                  <a:cubicBezTo>
                    <a:pt x="30754" y="854"/>
                    <a:pt x="31370" y="622"/>
                    <a:pt x="32004" y="487"/>
                  </a:cubicBezTo>
                  <a:cubicBezTo>
                    <a:pt x="32439" y="396"/>
                    <a:pt x="32886" y="349"/>
                    <a:pt x="33328" y="349"/>
                  </a:cubicBezTo>
                  <a:cubicBezTo>
                    <a:pt x="33526" y="349"/>
                    <a:pt x="33723" y="358"/>
                    <a:pt x="33918" y="377"/>
                  </a:cubicBezTo>
                  <a:cubicBezTo>
                    <a:pt x="34551" y="438"/>
                    <a:pt x="35163" y="622"/>
                    <a:pt x="35719" y="906"/>
                  </a:cubicBezTo>
                  <a:cubicBezTo>
                    <a:pt x="36278" y="1185"/>
                    <a:pt x="36780" y="1566"/>
                    <a:pt x="37234" y="1990"/>
                  </a:cubicBezTo>
                  <a:cubicBezTo>
                    <a:pt x="38139" y="2851"/>
                    <a:pt x="38847" y="3873"/>
                    <a:pt x="39495" y="4900"/>
                  </a:cubicBezTo>
                  <a:cubicBezTo>
                    <a:pt x="40136" y="5931"/>
                    <a:pt x="40713" y="6980"/>
                    <a:pt x="41334" y="7976"/>
                  </a:cubicBezTo>
                  <a:cubicBezTo>
                    <a:pt x="41972" y="8956"/>
                    <a:pt x="42527" y="9934"/>
                    <a:pt x="43065" y="10905"/>
                  </a:cubicBezTo>
                  <a:cubicBezTo>
                    <a:pt x="43331" y="11385"/>
                    <a:pt x="43611" y="11862"/>
                    <a:pt x="43921" y="12312"/>
                  </a:cubicBezTo>
                  <a:cubicBezTo>
                    <a:pt x="44231" y="12762"/>
                    <a:pt x="44608" y="13168"/>
                    <a:pt x="45044" y="13483"/>
                  </a:cubicBezTo>
                  <a:cubicBezTo>
                    <a:pt x="45481" y="13797"/>
                    <a:pt x="45984" y="14007"/>
                    <a:pt x="46482" y="14117"/>
                  </a:cubicBezTo>
                  <a:cubicBezTo>
                    <a:pt x="46984" y="14243"/>
                    <a:pt x="47482" y="14279"/>
                    <a:pt x="47972" y="14301"/>
                  </a:cubicBezTo>
                  <a:cubicBezTo>
                    <a:pt x="48081" y="14306"/>
                    <a:pt x="48190" y="14309"/>
                    <a:pt x="48298" y="14309"/>
                  </a:cubicBezTo>
                  <a:cubicBezTo>
                    <a:pt x="49159" y="14309"/>
                    <a:pt x="49997" y="14144"/>
                    <a:pt x="50734" y="13837"/>
                  </a:cubicBezTo>
                  <a:cubicBezTo>
                    <a:pt x="51153" y="13666"/>
                    <a:pt x="51534" y="13444"/>
                    <a:pt x="51888" y="13208"/>
                  </a:cubicBezTo>
                  <a:cubicBezTo>
                    <a:pt x="52233" y="12958"/>
                    <a:pt x="52561" y="12696"/>
                    <a:pt x="52845" y="12417"/>
                  </a:cubicBezTo>
                  <a:cubicBezTo>
                    <a:pt x="53430" y="11857"/>
                    <a:pt x="53898" y="11263"/>
                    <a:pt x="54322" y="10703"/>
                  </a:cubicBezTo>
                  <a:cubicBezTo>
                    <a:pt x="55157" y="9572"/>
                    <a:pt x="55825" y="8567"/>
                    <a:pt x="56494" y="7845"/>
                  </a:cubicBezTo>
                  <a:cubicBezTo>
                    <a:pt x="57150" y="7120"/>
                    <a:pt x="57801" y="6697"/>
                    <a:pt x="58273" y="6495"/>
                  </a:cubicBezTo>
                  <a:cubicBezTo>
                    <a:pt x="58509" y="6399"/>
                    <a:pt x="58697" y="6334"/>
                    <a:pt x="58828" y="6308"/>
                  </a:cubicBezTo>
                  <a:cubicBezTo>
                    <a:pt x="58955" y="6272"/>
                    <a:pt x="59020" y="6251"/>
                    <a:pt x="59020" y="6242"/>
                  </a:cubicBezTo>
                  <a:cubicBezTo>
                    <a:pt x="59019" y="6241"/>
                    <a:pt x="59017" y="6241"/>
                    <a:pt x="59013" y="6241"/>
                  </a:cubicBezTo>
                  <a:cubicBezTo>
                    <a:pt x="58993" y="6241"/>
                    <a:pt x="58929" y="6250"/>
                    <a:pt x="58819" y="6272"/>
                  </a:cubicBezTo>
                  <a:cubicBezTo>
                    <a:pt x="58683" y="6290"/>
                    <a:pt x="58491" y="6342"/>
                    <a:pt x="58247" y="6429"/>
                  </a:cubicBezTo>
                  <a:cubicBezTo>
                    <a:pt x="57757" y="6613"/>
                    <a:pt x="57075" y="7028"/>
                    <a:pt x="56393" y="7754"/>
                  </a:cubicBezTo>
                  <a:cubicBezTo>
                    <a:pt x="55699" y="8470"/>
                    <a:pt x="55012" y="9476"/>
                    <a:pt x="54165" y="10586"/>
                  </a:cubicBezTo>
                  <a:cubicBezTo>
                    <a:pt x="53737" y="11136"/>
                    <a:pt x="53269" y="11718"/>
                    <a:pt x="52692" y="12256"/>
                  </a:cubicBezTo>
                  <a:cubicBezTo>
                    <a:pt x="52408" y="12526"/>
                    <a:pt x="52089" y="12775"/>
                    <a:pt x="51752" y="13011"/>
                  </a:cubicBezTo>
                  <a:cubicBezTo>
                    <a:pt x="51407" y="13238"/>
                    <a:pt x="51040" y="13448"/>
                    <a:pt x="50638" y="13610"/>
                  </a:cubicBezTo>
                  <a:cubicBezTo>
                    <a:pt x="49935" y="13890"/>
                    <a:pt x="49147" y="14042"/>
                    <a:pt x="48323" y="14042"/>
                  </a:cubicBezTo>
                  <a:cubicBezTo>
                    <a:pt x="48210" y="14042"/>
                    <a:pt x="48095" y="14039"/>
                    <a:pt x="47981" y="14033"/>
                  </a:cubicBezTo>
                  <a:cubicBezTo>
                    <a:pt x="47509" y="14007"/>
                    <a:pt x="47024" y="13968"/>
                    <a:pt x="46552" y="13841"/>
                  </a:cubicBezTo>
                  <a:cubicBezTo>
                    <a:pt x="46076" y="13737"/>
                    <a:pt x="45617" y="13540"/>
                    <a:pt x="45215" y="13247"/>
                  </a:cubicBezTo>
                  <a:cubicBezTo>
                    <a:pt x="44393" y="12666"/>
                    <a:pt x="43868" y="11709"/>
                    <a:pt x="43331" y="10752"/>
                  </a:cubicBezTo>
                  <a:cubicBezTo>
                    <a:pt x="42807" y="9786"/>
                    <a:pt x="42238" y="8785"/>
                    <a:pt x="41609" y="7802"/>
                  </a:cubicBezTo>
                  <a:cubicBezTo>
                    <a:pt x="40998" y="6818"/>
                    <a:pt x="40425" y="5765"/>
                    <a:pt x="39778" y="4725"/>
                  </a:cubicBezTo>
                  <a:cubicBezTo>
                    <a:pt x="39127" y="3686"/>
                    <a:pt x="38410" y="2637"/>
                    <a:pt x="37470" y="1741"/>
                  </a:cubicBezTo>
                  <a:cubicBezTo>
                    <a:pt x="36998" y="1299"/>
                    <a:pt x="36470" y="897"/>
                    <a:pt x="35876" y="596"/>
                  </a:cubicBezTo>
                  <a:cubicBezTo>
                    <a:pt x="35281" y="294"/>
                    <a:pt x="34630" y="93"/>
                    <a:pt x="33953" y="31"/>
                  </a:cubicBezTo>
                  <a:cubicBezTo>
                    <a:pt x="33740" y="11"/>
                    <a:pt x="33527" y="1"/>
                    <a:pt x="33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5106104" y="1442255"/>
              <a:ext cx="527304" cy="29395"/>
            </a:xfrm>
            <a:custGeom>
              <a:avLst/>
              <a:gdLst/>
              <a:ahLst/>
              <a:cxnLst/>
              <a:rect l="l" t="t" r="r" b="b"/>
              <a:pathLst>
                <a:path w="12019" h="670" extrusionOk="0">
                  <a:moveTo>
                    <a:pt x="0" y="1"/>
                  </a:moveTo>
                  <a:lnTo>
                    <a:pt x="0" y="669"/>
                  </a:lnTo>
                  <a:lnTo>
                    <a:pt x="12019" y="669"/>
                  </a:lnTo>
                  <a:lnTo>
                    <a:pt x="120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5106104" y="1510870"/>
              <a:ext cx="260603" cy="29395"/>
            </a:xfrm>
            <a:custGeom>
              <a:avLst/>
              <a:gdLst/>
              <a:ahLst/>
              <a:cxnLst/>
              <a:rect l="l" t="t" r="r" b="b"/>
              <a:pathLst>
                <a:path w="5940" h="670" extrusionOk="0">
                  <a:moveTo>
                    <a:pt x="0" y="1"/>
                  </a:moveTo>
                  <a:lnTo>
                    <a:pt x="0" y="670"/>
                  </a:lnTo>
                  <a:lnTo>
                    <a:pt x="5940" y="670"/>
                  </a:lnTo>
                  <a:lnTo>
                    <a:pt x="59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4741999" y="986350"/>
              <a:ext cx="3028454" cy="191920"/>
            </a:xfrm>
            <a:custGeom>
              <a:avLst/>
              <a:gdLst/>
              <a:ahLst/>
              <a:cxnLst/>
              <a:rect l="l" t="t" r="r" b="b"/>
              <a:pathLst>
                <a:path w="69001" h="4375" extrusionOk="0">
                  <a:moveTo>
                    <a:pt x="79" y="0"/>
                  </a:moveTo>
                  <a:cubicBezTo>
                    <a:pt x="35" y="0"/>
                    <a:pt x="1" y="36"/>
                    <a:pt x="1" y="79"/>
                  </a:cubicBezTo>
                  <a:lnTo>
                    <a:pt x="1" y="4375"/>
                  </a:lnTo>
                  <a:lnTo>
                    <a:pt x="69000" y="4375"/>
                  </a:lnTo>
                  <a:lnTo>
                    <a:pt x="69000" y="79"/>
                  </a:lnTo>
                  <a:cubicBezTo>
                    <a:pt x="69000" y="36"/>
                    <a:pt x="68966" y="0"/>
                    <a:pt x="689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4857439" y="1065308"/>
              <a:ext cx="41460" cy="41284"/>
            </a:xfrm>
            <a:custGeom>
              <a:avLst/>
              <a:gdLst/>
              <a:ahLst/>
              <a:cxnLst/>
              <a:rect l="l" t="t" r="r" b="b"/>
              <a:pathLst>
                <a:path w="945" h="941" extrusionOk="0">
                  <a:moveTo>
                    <a:pt x="472" y="1"/>
                  </a:moveTo>
                  <a:cubicBezTo>
                    <a:pt x="214" y="1"/>
                    <a:pt x="0" y="211"/>
                    <a:pt x="0" y="473"/>
                  </a:cubicBezTo>
                  <a:cubicBezTo>
                    <a:pt x="0" y="731"/>
                    <a:pt x="214" y="941"/>
                    <a:pt x="472" y="941"/>
                  </a:cubicBezTo>
                  <a:cubicBezTo>
                    <a:pt x="734" y="941"/>
                    <a:pt x="944" y="731"/>
                    <a:pt x="944" y="473"/>
                  </a:cubicBezTo>
                  <a:cubicBezTo>
                    <a:pt x="944" y="211"/>
                    <a:pt x="734" y="1"/>
                    <a:pt x="4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4947727" y="1065308"/>
              <a:ext cx="41240" cy="41284"/>
            </a:xfrm>
            <a:custGeom>
              <a:avLst/>
              <a:gdLst/>
              <a:ahLst/>
              <a:cxnLst/>
              <a:rect l="l" t="t" r="r" b="b"/>
              <a:pathLst>
                <a:path w="940" h="941" extrusionOk="0">
                  <a:moveTo>
                    <a:pt x="468" y="1"/>
                  </a:moveTo>
                  <a:cubicBezTo>
                    <a:pt x="211" y="1"/>
                    <a:pt x="1" y="211"/>
                    <a:pt x="1" y="473"/>
                  </a:cubicBezTo>
                  <a:cubicBezTo>
                    <a:pt x="1" y="731"/>
                    <a:pt x="211" y="941"/>
                    <a:pt x="468" y="941"/>
                  </a:cubicBezTo>
                  <a:cubicBezTo>
                    <a:pt x="730" y="941"/>
                    <a:pt x="940" y="731"/>
                    <a:pt x="940" y="473"/>
                  </a:cubicBezTo>
                  <a:cubicBezTo>
                    <a:pt x="940" y="211"/>
                    <a:pt x="730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5037840" y="1065308"/>
              <a:ext cx="41284" cy="41284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468" y="1"/>
                  </a:moveTo>
                  <a:cubicBezTo>
                    <a:pt x="210" y="1"/>
                    <a:pt x="1" y="211"/>
                    <a:pt x="1" y="473"/>
                  </a:cubicBezTo>
                  <a:cubicBezTo>
                    <a:pt x="1" y="731"/>
                    <a:pt x="210" y="941"/>
                    <a:pt x="468" y="941"/>
                  </a:cubicBezTo>
                  <a:cubicBezTo>
                    <a:pt x="731" y="941"/>
                    <a:pt x="940" y="731"/>
                    <a:pt x="940" y="473"/>
                  </a:cubicBezTo>
                  <a:cubicBezTo>
                    <a:pt x="940" y="211"/>
                    <a:pt x="731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5988347" y="1835302"/>
              <a:ext cx="75197" cy="75197"/>
            </a:xfrm>
            <a:custGeom>
              <a:avLst/>
              <a:gdLst/>
              <a:ahLst/>
              <a:cxnLst/>
              <a:rect l="l" t="t" r="r" b="b"/>
              <a:pathLst>
                <a:path w="1714" h="1714" extrusionOk="0">
                  <a:moveTo>
                    <a:pt x="857" y="57"/>
                  </a:moveTo>
                  <a:cubicBezTo>
                    <a:pt x="1299" y="57"/>
                    <a:pt x="1662" y="415"/>
                    <a:pt x="1662" y="857"/>
                  </a:cubicBezTo>
                  <a:cubicBezTo>
                    <a:pt x="1662" y="1299"/>
                    <a:pt x="1299" y="1661"/>
                    <a:pt x="857" y="1661"/>
                  </a:cubicBezTo>
                  <a:cubicBezTo>
                    <a:pt x="415" y="1661"/>
                    <a:pt x="57" y="1299"/>
                    <a:pt x="57" y="857"/>
                  </a:cubicBezTo>
                  <a:cubicBezTo>
                    <a:pt x="57" y="415"/>
                    <a:pt x="415" y="57"/>
                    <a:pt x="857" y="57"/>
                  </a:cubicBezTo>
                  <a:close/>
                  <a:moveTo>
                    <a:pt x="857" y="0"/>
                  </a:moveTo>
                  <a:cubicBezTo>
                    <a:pt x="385" y="0"/>
                    <a:pt x="0" y="385"/>
                    <a:pt x="0" y="857"/>
                  </a:cubicBezTo>
                  <a:cubicBezTo>
                    <a:pt x="0" y="1333"/>
                    <a:pt x="385" y="1714"/>
                    <a:pt x="857" y="1714"/>
                  </a:cubicBezTo>
                  <a:cubicBezTo>
                    <a:pt x="1329" y="1714"/>
                    <a:pt x="1714" y="1333"/>
                    <a:pt x="1714" y="857"/>
                  </a:cubicBezTo>
                  <a:cubicBezTo>
                    <a:pt x="1714" y="385"/>
                    <a:pt x="1329" y="0"/>
                    <a:pt x="8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26"/>
          <p:cNvSpPr/>
          <p:nvPr/>
        </p:nvSpPr>
        <p:spPr>
          <a:xfrm>
            <a:off x="6351676" y="1224984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ctrTitle"/>
          </p:nvPr>
        </p:nvSpPr>
        <p:spPr>
          <a:xfrm>
            <a:off x="340883" y="781971"/>
            <a:ext cx="4699162" cy="17784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M/M/1/M : FINITE CUSTOMER POPULATION</a:t>
            </a:r>
          </a:p>
        </p:txBody>
      </p:sp>
      <p:grpSp>
        <p:nvGrpSpPr>
          <p:cNvPr id="167" name="Google Shape;167;p26"/>
          <p:cNvGrpSpPr/>
          <p:nvPr/>
        </p:nvGrpSpPr>
        <p:grpSpPr>
          <a:xfrm>
            <a:off x="6127284" y="3814450"/>
            <a:ext cx="203088" cy="412126"/>
            <a:chOff x="7764635" y="2404362"/>
            <a:chExt cx="353565" cy="717489"/>
          </a:xfrm>
        </p:grpSpPr>
        <p:sp>
          <p:nvSpPr>
            <p:cNvPr id="168" name="Google Shape;168;p26"/>
            <p:cNvSpPr/>
            <p:nvPr/>
          </p:nvSpPr>
          <p:spPr>
            <a:xfrm>
              <a:off x="7764635" y="2517069"/>
              <a:ext cx="238359" cy="604782"/>
            </a:xfrm>
            <a:custGeom>
              <a:avLst/>
              <a:gdLst/>
              <a:ahLst/>
              <a:cxnLst/>
              <a:rect l="l" t="t" r="r" b="b"/>
              <a:pathLst>
                <a:path w="5433" h="13785" extrusionOk="0">
                  <a:moveTo>
                    <a:pt x="1893" y="1"/>
                  </a:moveTo>
                  <a:lnTo>
                    <a:pt x="1875" y="9077"/>
                  </a:lnTo>
                  <a:lnTo>
                    <a:pt x="1" y="9073"/>
                  </a:lnTo>
                  <a:lnTo>
                    <a:pt x="1351" y="11429"/>
                  </a:lnTo>
                  <a:lnTo>
                    <a:pt x="2706" y="13784"/>
                  </a:lnTo>
                  <a:lnTo>
                    <a:pt x="4069" y="11433"/>
                  </a:lnTo>
                  <a:lnTo>
                    <a:pt x="5433" y="9081"/>
                  </a:lnTo>
                  <a:lnTo>
                    <a:pt x="3553" y="9081"/>
                  </a:lnTo>
                  <a:lnTo>
                    <a:pt x="357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7976141" y="2404362"/>
              <a:ext cx="142059" cy="360456"/>
            </a:xfrm>
            <a:custGeom>
              <a:avLst/>
              <a:gdLst/>
              <a:ahLst/>
              <a:cxnLst/>
              <a:rect l="l" t="t" r="r" b="b"/>
              <a:pathLst>
                <a:path w="3238" h="8216" extrusionOk="0">
                  <a:moveTo>
                    <a:pt x="1128" y="0"/>
                  </a:moveTo>
                  <a:lnTo>
                    <a:pt x="1118" y="5410"/>
                  </a:lnTo>
                  <a:lnTo>
                    <a:pt x="0" y="5410"/>
                  </a:lnTo>
                  <a:lnTo>
                    <a:pt x="804" y="6813"/>
                  </a:lnTo>
                  <a:lnTo>
                    <a:pt x="1612" y="8216"/>
                  </a:lnTo>
                  <a:lnTo>
                    <a:pt x="2425" y="6817"/>
                  </a:lnTo>
                  <a:lnTo>
                    <a:pt x="3238" y="5414"/>
                  </a:lnTo>
                  <a:lnTo>
                    <a:pt x="2120" y="541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6"/>
          <p:cNvSpPr/>
          <p:nvPr/>
        </p:nvSpPr>
        <p:spPr>
          <a:xfrm>
            <a:off x="3503875" y="4691494"/>
            <a:ext cx="5958719" cy="5089"/>
          </a:xfrm>
          <a:custGeom>
            <a:avLst/>
            <a:gdLst/>
            <a:ahLst/>
            <a:cxnLst/>
            <a:rect l="l" t="t" r="r" b="b"/>
            <a:pathLst>
              <a:path w="135819" h="116" extrusionOk="0">
                <a:moveTo>
                  <a:pt x="67912" y="1"/>
                </a:moveTo>
                <a:cubicBezTo>
                  <a:pt x="30398" y="1"/>
                  <a:pt x="0" y="27"/>
                  <a:pt x="0" y="59"/>
                </a:cubicBezTo>
                <a:cubicBezTo>
                  <a:pt x="0" y="89"/>
                  <a:pt x="30398" y="115"/>
                  <a:pt x="67912" y="115"/>
                </a:cubicBezTo>
                <a:cubicBezTo>
                  <a:pt x="105412" y="115"/>
                  <a:pt x="135819" y="89"/>
                  <a:pt x="135819" y="59"/>
                </a:cubicBezTo>
                <a:cubicBezTo>
                  <a:pt x="135819" y="27"/>
                  <a:pt x="105412" y="1"/>
                  <a:pt x="67912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6603544" y="1837492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7467818" y="2166091"/>
            <a:ext cx="21541" cy="21541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245" y="1"/>
                </a:moveTo>
                <a:cubicBezTo>
                  <a:pt x="110" y="1"/>
                  <a:pt x="1" y="111"/>
                  <a:pt x="1" y="246"/>
                </a:cubicBezTo>
                <a:cubicBezTo>
                  <a:pt x="1" y="381"/>
                  <a:pt x="110" y="490"/>
                  <a:pt x="245" y="490"/>
                </a:cubicBezTo>
                <a:cubicBezTo>
                  <a:pt x="381" y="490"/>
                  <a:pt x="491" y="381"/>
                  <a:pt x="491" y="246"/>
                </a:cubicBezTo>
                <a:cubicBezTo>
                  <a:pt x="491" y="111"/>
                  <a:pt x="381" y="1"/>
                  <a:pt x="245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7310626" y="3729418"/>
            <a:ext cx="69055" cy="15619"/>
          </a:xfrm>
          <a:custGeom>
            <a:avLst/>
            <a:gdLst/>
            <a:ahLst/>
            <a:cxnLst/>
            <a:rect l="l" t="t" r="r" b="b"/>
            <a:pathLst>
              <a:path w="1574" h="356" extrusionOk="0">
                <a:moveTo>
                  <a:pt x="0" y="1"/>
                </a:moveTo>
                <a:lnTo>
                  <a:pt x="0" y="355"/>
                </a:lnTo>
                <a:lnTo>
                  <a:pt x="1573" y="355"/>
                </a:lnTo>
                <a:lnTo>
                  <a:pt x="157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7551043" y="3729418"/>
            <a:ext cx="69231" cy="15619"/>
          </a:xfrm>
          <a:custGeom>
            <a:avLst/>
            <a:gdLst/>
            <a:ahLst/>
            <a:cxnLst/>
            <a:rect l="l" t="t" r="r" b="b"/>
            <a:pathLst>
              <a:path w="1578" h="356" extrusionOk="0">
                <a:moveTo>
                  <a:pt x="0" y="1"/>
                </a:moveTo>
                <a:lnTo>
                  <a:pt x="0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7791636" y="3729418"/>
            <a:ext cx="69275" cy="15619"/>
          </a:xfrm>
          <a:custGeom>
            <a:avLst/>
            <a:gdLst/>
            <a:ahLst/>
            <a:cxnLst/>
            <a:rect l="l" t="t" r="r" b="b"/>
            <a:pathLst>
              <a:path w="1579" h="356" extrusionOk="0">
                <a:moveTo>
                  <a:pt x="1" y="1"/>
                </a:moveTo>
                <a:lnTo>
                  <a:pt x="1" y="355"/>
                </a:lnTo>
                <a:lnTo>
                  <a:pt x="1579" y="355"/>
                </a:lnTo>
                <a:lnTo>
                  <a:pt x="15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8032273" y="3729418"/>
            <a:ext cx="69275" cy="15619"/>
          </a:xfrm>
          <a:custGeom>
            <a:avLst/>
            <a:gdLst/>
            <a:ahLst/>
            <a:cxnLst/>
            <a:rect l="l" t="t" r="r" b="b"/>
            <a:pathLst>
              <a:path w="1579" h="356" extrusionOk="0">
                <a:moveTo>
                  <a:pt x="1" y="1"/>
                </a:moveTo>
                <a:lnTo>
                  <a:pt x="1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7464923" y="3001497"/>
            <a:ext cx="24437" cy="23384"/>
          </a:xfrm>
          <a:custGeom>
            <a:avLst/>
            <a:gdLst/>
            <a:ahLst/>
            <a:cxnLst/>
            <a:rect l="l" t="t" r="r" b="b"/>
            <a:pathLst>
              <a:path w="557" h="533" extrusionOk="0">
                <a:moveTo>
                  <a:pt x="277" y="0"/>
                </a:moveTo>
                <a:cubicBezTo>
                  <a:pt x="124" y="0"/>
                  <a:pt x="1" y="118"/>
                  <a:pt x="1" y="267"/>
                </a:cubicBezTo>
                <a:cubicBezTo>
                  <a:pt x="1" y="414"/>
                  <a:pt x="124" y="533"/>
                  <a:pt x="277" y="533"/>
                </a:cubicBezTo>
                <a:cubicBezTo>
                  <a:pt x="434" y="533"/>
                  <a:pt x="557" y="414"/>
                  <a:pt x="557" y="267"/>
                </a:cubicBezTo>
                <a:cubicBezTo>
                  <a:pt x="557" y="118"/>
                  <a:pt x="434" y="0"/>
                  <a:pt x="27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6638176" y="2637490"/>
            <a:ext cx="1613430" cy="1461858"/>
          </a:xfrm>
          <a:custGeom>
            <a:avLst/>
            <a:gdLst/>
            <a:ahLst/>
            <a:cxnLst/>
            <a:rect l="l" t="t" r="r" b="b"/>
            <a:pathLst>
              <a:path w="35998" h="15301" extrusionOk="0">
                <a:moveTo>
                  <a:pt x="888" y="1"/>
                </a:moveTo>
                <a:cubicBezTo>
                  <a:pt x="398" y="1"/>
                  <a:pt x="1" y="398"/>
                  <a:pt x="1" y="887"/>
                </a:cubicBezTo>
                <a:lnTo>
                  <a:pt x="1" y="14413"/>
                </a:lnTo>
                <a:cubicBezTo>
                  <a:pt x="1" y="14903"/>
                  <a:pt x="398" y="15300"/>
                  <a:pt x="888" y="15300"/>
                </a:cubicBezTo>
                <a:lnTo>
                  <a:pt x="35110" y="15300"/>
                </a:lnTo>
                <a:cubicBezTo>
                  <a:pt x="35600" y="15300"/>
                  <a:pt x="35998" y="14903"/>
                  <a:pt x="35998" y="14413"/>
                </a:cubicBezTo>
                <a:lnTo>
                  <a:pt x="35998" y="887"/>
                </a:lnTo>
                <a:cubicBezTo>
                  <a:pt x="35998" y="398"/>
                  <a:pt x="35600" y="1"/>
                  <a:pt x="3511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7750440" y="2950080"/>
            <a:ext cx="24393" cy="23603"/>
          </a:xfrm>
          <a:custGeom>
            <a:avLst/>
            <a:gdLst/>
            <a:ahLst/>
            <a:cxnLst/>
            <a:rect l="l" t="t" r="r" b="b"/>
            <a:pathLst>
              <a:path w="556" h="538" extrusionOk="0">
                <a:moveTo>
                  <a:pt x="276" y="1"/>
                </a:moveTo>
                <a:cubicBezTo>
                  <a:pt x="122" y="1"/>
                  <a:pt x="1" y="123"/>
                  <a:pt x="1" y="267"/>
                </a:cubicBezTo>
                <a:cubicBezTo>
                  <a:pt x="1" y="416"/>
                  <a:pt x="122" y="538"/>
                  <a:pt x="276" y="538"/>
                </a:cubicBezTo>
                <a:cubicBezTo>
                  <a:pt x="429" y="538"/>
                  <a:pt x="556" y="416"/>
                  <a:pt x="556" y="267"/>
                </a:cubicBezTo>
                <a:cubicBezTo>
                  <a:pt x="556" y="123"/>
                  <a:pt x="429" y="1"/>
                  <a:pt x="27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" name="Google Shape;196;p26"/>
          <p:cNvGrpSpPr/>
          <p:nvPr/>
        </p:nvGrpSpPr>
        <p:grpSpPr>
          <a:xfrm>
            <a:off x="6707082" y="2727474"/>
            <a:ext cx="1407691" cy="1286147"/>
            <a:chOff x="6117656" y="2752309"/>
            <a:chExt cx="1407691" cy="1286147"/>
          </a:xfrm>
        </p:grpSpPr>
        <p:sp>
          <p:nvSpPr>
            <p:cNvPr id="197" name="Google Shape;197;p26"/>
            <p:cNvSpPr/>
            <p:nvPr/>
          </p:nvSpPr>
          <p:spPr>
            <a:xfrm>
              <a:off x="6117656" y="3670896"/>
              <a:ext cx="54095" cy="15750"/>
            </a:xfrm>
            <a:custGeom>
              <a:avLst/>
              <a:gdLst/>
              <a:ahLst/>
              <a:cxnLst/>
              <a:rect l="l" t="t" r="r" b="b"/>
              <a:pathLst>
                <a:path w="1233" h="359" extrusionOk="0">
                  <a:moveTo>
                    <a:pt x="1" y="0"/>
                  </a:moveTo>
                  <a:lnTo>
                    <a:pt x="1" y="359"/>
                  </a:lnTo>
                  <a:lnTo>
                    <a:pt x="1233" y="359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6239970" y="3754253"/>
              <a:ext cx="69055" cy="15619"/>
            </a:xfrm>
            <a:custGeom>
              <a:avLst/>
              <a:gdLst/>
              <a:ahLst/>
              <a:cxnLst/>
              <a:rect l="l" t="t" r="r" b="b"/>
              <a:pathLst>
                <a:path w="1574" h="356" extrusionOk="0">
                  <a:moveTo>
                    <a:pt x="0" y="1"/>
                  </a:moveTo>
                  <a:lnTo>
                    <a:pt x="0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480563" y="3754253"/>
              <a:ext cx="69055" cy="15619"/>
            </a:xfrm>
            <a:custGeom>
              <a:avLst/>
              <a:gdLst/>
              <a:ahLst/>
              <a:cxnLst/>
              <a:rect l="l" t="t" r="r" b="b"/>
              <a:pathLst>
                <a:path w="1574" h="356" extrusionOk="0">
                  <a:moveTo>
                    <a:pt x="1" y="1"/>
                  </a:moveTo>
                  <a:lnTo>
                    <a:pt x="1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117656" y="3463032"/>
              <a:ext cx="54095" cy="15619"/>
            </a:xfrm>
            <a:custGeom>
              <a:avLst/>
              <a:gdLst/>
              <a:ahLst/>
              <a:cxnLst/>
              <a:rect l="l" t="t" r="r" b="b"/>
              <a:pathLst>
                <a:path w="1233" h="356" extrusionOk="0">
                  <a:moveTo>
                    <a:pt x="1" y="1"/>
                  </a:moveTo>
                  <a:lnTo>
                    <a:pt x="1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117656" y="3071564"/>
              <a:ext cx="54095" cy="15531"/>
            </a:xfrm>
            <a:custGeom>
              <a:avLst/>
              <a:gdLst/>
              <a:ahLst/>
              <a:cxnLst/>
              <a:rect l="l" t="t" r="r" b="b"/>
              <a:pathLst>
                <a:path w="1233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117656" y="2874843"/>
              <a:ext cx="54095" cy="15531"/>
            </a:xfrm>
            <a:custGeom>
              <a:avLst/>
              <a:gdLst/>
              <a:ahLst/>
              <a:cxnLst/>
              <a:rect l="l" t="t" r="r" b="b"/>
              <a:pathLst>
                <a:path w="1233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120332" y="3267276"/>
              <a:ext cx="54095" cy="15619"/>
            </a:xfrm>
            <a:custGeom>
              <a:avLst/>
              <a:gdLst/>
              <a:ahLst/>
              <a:cxnLst/>
              <a:rect l="l" t="t" r="r" b="b"/>
              <a:pathLst>
                <a:path w="1233" h="356" extrusionOk="0">
                  <a:moveTo>
                    <a:pt x="0" y="1"/>
                  </a:moveTo>
                  <a:lnTo>
                    <a:pt x="0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6197415" y="2752309"/>
              <a:ext cx="1312797" cy="936853"/>
            </a:xfrm>
            <a:custGeom>
              <a:avLst/>
              <a:gdLst/>
              <a:ahLst/>
              <a:cxnLst/>
              <a:rect l="l" t="t" r="r" b="b"/>
              <a:pathLst>
                <a:path w="29923" h="21354" extrusionOk="0">
                  <a:moveTo>
                    <a:pt x="57" y="0"/>
                  </a:moveTo>
                  <a:cubicBezTo>
                    <a:pt x="57" y="0"/>
                    <a:pt x="53" y="36"/>
                    <a:pt x="53" y="105"/>
                  </a:cubicBezTo>
                  <a:cubicBezTo>
                    <a:pt x="48" y="180"/>
                    <a:pt x="48" y="285"/>
                    <a:pt x="48" y="420"/>
                  </a:cubicBezTo>
                  <a:cubicBezTo>
                    <a:pt x="44" y="700"/>
                    <a:pt x="39" y="1102"/>
                    <a:pt x="35" y="1626"/>
                  </a:cubicBezTo>
                  <a:cubicBezTo>
                    <a:pt x="31" y="2680"/>
                    <a:pt x="26" y="4209"/>
                    <a:pt x="18" y="6110"/>
                  </a:cubicBezTo>
                  <a:cubicBezTo>
                    <a:pt x="13" y="9925"/>
                    <a:pt x="9" y="15248"/>
                    <a:pt x="0" y="21297"/>
                  </a:cubicBezTo>
                  <a:lnTo>
                    <a:pt x="0" y="21354"/>
                  </a:lnTo>
                  <a:lnTo>
                    <a:pt x="4344" y="21354"/>
                  </a:lnTo>
                  <a:cubicBezTo>
                    <a:pt x="11402" y="21344"/>
                    <a:pt x="17796" y="21340"/>
                    <a:pt x="22427" y="21336"/>
                  </a:cubicBezTo>
                  <a:cubicBezTo>
                    <a:pt x="24739" y="21327"/>
                    <a:pt x="26610" y="21323"/>
                    <a:pt x="27912" y="21318"/>
                  </a:cubicBezTo>
                  <a:cubicBezTo>
                    <a:pt x="28555" y="21314"/>
                    <a:pt x="29057" y="21310"/>
                    <a:pt x="29402" y="21305"/>
                  </a:cubicBezTo>
                  <a:cubicBezTo>
                    <a:pt x="29569" y="21305"/>
                    <a:pt x="29695" y="21301"/>
                    <a:pt x="29787" y="21301"/>
                  </a:cubicBezTo>
                  <a:cubicBezTo>
                    <a:pt x="29874" y="21301"/>
                    <a:pt x="29922" y="21297"/>
                    <a:pt x="29922" y="21297"/>
                  </a:cubicBezTo>
                  <a:cubicBezTo>
                    <a:pt x="29922" y="21297"/>
                    <a:pt x="29874" y="21292"/>
                    <a:pt x="29787" y="21287"/>
                  </a:cubicBezTo>
                  <a:cubicBezTo>
                    <a:pt x="29695" y="21287"/>
                    <a:pt x="29569" y="21283"/>
                    <a:pt x="29402" y="21283"/>
                  </a:cubicBezTo>
                  <a:cubicBezTo>
                    <a:pt x="29057" y="21279"/>
                    <a:pt x="28555" y="21275"/>
                    <a:pt x="27912" y="21271"/>
                  </a:cubicBezTo>
                  <a:cubicBezTo>
                    <a:pt x="26610" y="21265"/>
                    <a:pt x="24739" y="21261"/>
                    <a:pt x="22427" y="21253"/>
                  </a:cubicBezTo>
                  <a:cubicBezTo>
                    <a:pt x="17796" y="21249"/>
                    <a:pt x="11402" y="21244"/>
                    <a:pt x="4344" y="21235"/>
                  </a:cubicBezTo>
                  <a:lnTo>
                    <a:pt x="113" y="21235"/>
                  </a:lnTo>
                  <a:cubicBezTo>
                    <a:pt x="105" y="15212"/>
                    <a:pt x="101" y="9912"/>
                    <a:pt x="97" y="6110"/>
                  </a:cubicBezTo>
                  <a:cubicBezTo>
                    <a:pt x="87" y="4209"/>
                    <a:pt x="83" y="2680"/>
                    <a:pt x="79" y="1626"/>
                  </a:cubicBezTo>
                  <a:cubicBezTo>
                    <a:pt x="75" y="1102"/>
                    <a:pt x="70" y="700"/>
                    <a:pt x="65" y="420"/>
                  </a:cubicBezTo>
                  <a:cubicBezTo>
                    <a:pt x="65" y="285"/>
                    <a:pt x="61" y="180"/>
                    <a:pt x="61" y="105"/>
                  </a:cubicBezTo>
                  <a:cubicBezTo>
                    <a:pt x="61" y="36"/>
                    <a:pt x="57" y="0"/>
                    <a:pt x="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6267425" y="3272494"/>
              <a:ext cx="1244945" cy="5177"/>
            </a:xfrm>
            <a:custGeom>
              <a:avLst/>
              <a:gdLst/>
              <a:ahLst/>
              <a:cxnLst/>
              <a:rect l="l" t="t" r="r" b="b"/>
              <a:pathLst>
                <a:path w="29018" h="118" extrusionOk="0">
                  <a:moveTo>
                    <a:pt x="14509" y="0"/>
                  </a:moveTo>
                  <a:cubicBezTo>
                    <a:pt x="6494" y="0"/>
                    <a:pt x="0" y="27"/>
                    <a:pt x="0" y="57"/>
                  </a:cubicBezTo>
                  <a:cubicBezTo>
                    <a:pt x="0" y="92"/>
                    <a:pt x="6494" y="118"/>
                    <a:pt x="14509" y="118"/>
                  </a:cubicBezTo>
                  <a:cubicBezTo>
                    <a:pt x="22519" y="118"/>
                    <a:pt x="29017" y="92"/>
                    <a:pt x="29017" y="57"/>
                  </a:cubicBezTo>
                  <a:cubicBezTo>
                    <a:pt x="29017" y="27"/>
                    <a:pt x="22519" y="0"/>
                    <a:pt x="145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6267425" y="3076695"/>
              <a:ext cx="1244945" cy="5265"/>
            </a:xfrm>
            <a:custGeom>
              <a:avLst/>
              <a:gdLst/>
              <a:ahLst/>
              <a:cxnLst/>
              <a:rect l="l" t="t" r="r" b="b"/>
              <a:pathLst>
                <a:path w="29018" h="120" extrusionOk="0">
                  <a:moveTo>
                    <a:pt x="14509" y="1"/>
                  </a:moveTo>
                  <a:cubicBezTo>
                    <a:pt x="6494" y="1"/>
                    <a:pt x="0" y="27"/>
                    <a:pt x="0" y="58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8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6267425" y="2879975"/>
              <a:ext cx="1244945" cy="5265"/>
            </a:xfrm>
            <a:custGeom>
              <a:avLst/>
              <a:gdLst/>
              <a:ahLst/>
              <a:cxnLst/>
              <a:rect l="l" t="t" r="r" b="b"/>
              <a:pathLst>
                <a:path w="29018" h="120" extrusionOk="0">
                  <a:moveTo>
                    <a:pt x="14509" y="1"/>
                  </a:moveTo>
                  <a:cubicBezTo>
                    <a:pt x="6494" y="1"/>
                    <a:pt x="0" y="27"/>
                    <a:pt x="0" y="59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9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6267425" y="3468249"/>
              <a:ext cx="1244945" cy="5001"/>
            </a:xfrm>
            <a:custGeom>
              <a:avLst/>
              <a:gdLst/>
              <a:ahLst/>
              <a:cxnLst/>
              <a:rect l="l" t="t" r="r" b="b"/>
              <a:pathLst>
                <a:path w="29018" h="114" extrusionOk="0">
                  <a:moveTo>
                    <a:pt x="14509" y="0"/>
                  </a:moveTo>
                  <a:cubicBezTo>
                    <a:pt x="6494" y="0"/>
                    <a:pt x="0" y="26"/>
                    <a:pt x="0" y="57"/>
                  </a:cubicBezTo>
                  <a:cubicBezTo>
                    <a:pt x="0" y="87"/>
                    <a:pt x="6494" y="113"/>
                    <a:pt x="14509" y="113"/>
                  </a:cubicBezTo>
                  <a:cubicBezTo>
                    <a:pt x="22519" y="113"/>
                    <a:pt x="29017" y="87"/>
                    <a:pt x="29017" y="57"/>
                  </a:cubicBezTo>
                  <a:cubicBezTo>
                    <a:pt x="29017" y="26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6265284" y="2766699"/>
              <a:ext cx="1244926" cy="877801"/>
            </a:xfrm>
            <a:custGeom>
              <a:avLst/>
              <a:gdLst/>
              <a:ahLst/>
              <a:cxnLst/>
              <a:rect l="l" t="t" r="r" b="b"/>
              <a:pathLst>
                <a:path w="28376" h="20008" extrusionOk="0">
                  <a:moveTo>
                    <a:pt x="18153" y="1"/>
                  </a:moveTo>
                  <a:lnTo>
                    <a:pt x="14714" y="6534"/>
                  </a:lnTo>
                  <a:lnTo>
                    <a:pt x="12425" y="4668"/>
                  </a:lnTo>
                  <a:lnTo>
                    <a:pt x="9605" y="9593"/>
                  </a:lnTo>
                  <a:lnTo>
                    <a:pt x="7578" y="8164"/>
                  </a:lnTo>
                  <a:lnTo>
                    <a:pt x="4143" y="13504"/>
                  </a:lnTo>
                  <a:lnTo>
                    <a:pt x="2469" y="12220"/>
                  </a:lnTo>
                  <a:lnTo>
                    <a:pt x="0" y="16048"/>
                  </a:lnTo>
                  <a:lnTo>
                    <a:pt x="0" y="20007"/>
                  </a:lnTo>
                  <a:lnTo>
                    <a:pt x="28375" y="20007"/>
                  </a:lnTo>
                  <a:lnTo>
                    <a:pt x="28375" y="2641"/>
                  </a:lnTo>
                  <a:lnTo>
                    <a:pt x="24849" y="3649"/>
                  </a:lnTo>
                  <a:lnTo>
                    <a:pt x="21855" y="7303"/>
                  </a:lnTo>
                  <a:lnTo>
                    <a:pt x="181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6265284" y="2819433"/>
              <a:ext cx="1260062" cy="709243"/>
            </a:xfrm>
            <a:custGeom>
              <a:avLst/>
              <a:gdLst/>
              <a:ahLst/>
              <a:cxnLst/>
              <a:rect l="l" t="t" r="r" b="b"/>
              <a:pathLst>
                <a:path w="28721" h="16166" extrusionOk="0">
                  <a:moveTo>
                    <a:pt x="25041" y="1"/>
                  </a:moveTo>
                  <a:lnTo>
                    <a:pt x="25027" y="13"/>
                  </a:lnTo>
                  <a:cubicBezTo>
                    <a:pt x="24240" y="1036"/>
                    <a:pt x="23252" y="2306"/>
                    <a:pt x="22122" y="3767"/>
                  </a:cubicBezTo>
                  <a:lnTo>
                    <a:pt x="22122" y="3767"/>
                  </a:lnTo>
                  <a:cubicBezTo>
                    <a:pt x="20021" y="3763"/>
                    <a:pt x="17561" y="3759"/>
                    <a:pt x="14889" y="3759"/>
                  </a:cubicBezTo>
                  <a:lnTo>
                    <a:pt x="14859" y="3759"/>
                  </a:lnTo>
                  <a:lnTo>
                    <a:pt x="14841" y="3785"/>
                  </a:lnTo>
                  <a:cubicBezTo>
                    <a:pt x="13884" y="5376"/>
                    <a:pt x="12853" y="7089"/>
                    <a:pt x="11786" y="8863"/>
                  </a:cubicBezTo>
                  <a:cubicBezTo>
                    <a:pt x="10766" y="10563"/>
                    <a:pt x="9777" y="12212"/>
                    <a:pt x="8840" y="13769"/>
                  </a:cubicBezTo>
                  <a:lnTo>
                    <a:pt x="8840" y="13769"/>
                  </a:lnTo>
                  <a:cubicBezTo>
                    <a:pt x="7421" y="11828"/>
                    <a:pt x="6105" y="10033"/>
                    <a:pt x="4942" y="8444"/>
                  </a:cubicBezTo>
                  <a:lnTo>
                    <a:pt x="4903" y="8387"/>
                  </a:lnTo>
                  <a:lnTo>
                    <a:pt x="4864" y="8444"/>
                  </a:lnTo>
                  <a:cubicBezTo>
                    <a:pt x="3387" y="10782"/>
                    <a:pt x="2168" y="12704"/>
                    <a:pt x="1315" y="14055"/>
                  </a:cubicBezTo>
                  <a:cubicBezTo>
                    <a:pt x="896" y="14723"/>
                    <a:pt x="563" y="15247"/>
                    <a:pt x="337" y="15610"/>
                  </a:cubicBezTo>
                  <a:cubicBezTo>
                    <a:pt x="228" y="15790"/>
                    <a:pt x="144" y="15925"/>
                    <a:pt x="83" y="16022"/>
                  </a:cubicBezTo>
                  <a:cubicBezTo>
                    <a:pt x="26" y="16117"/>
                    <a:pt x="0" y="16165"/>
                    <a:pt x="0" y="16165"/>
                  </a:cubicBezTo>
                  <a:cubicBezTo>
                    <a:pt x="0" y="16165"/>
                    <a:pt x="35" y="16122"/>
                    <a:pt x="97" y="16030"/>
                  </a:cubicBezTo>
                  <a:cubicBezTo>
                    <a:pt x="158" y="15933"/>
                    <a:pt x="245" y="15798"/>
                    <a:pt x="359" y="15628"/>
                  </a:cubicBezTo>
                  <a:cubicBezTo>
                    <a:pt x="595" y="15265"/>
                    <a:pt x="931" y="14745"/>
                    <a:pt x="1359" y="14081"/>
                  </a:cubicBezTo>
                  <a:cubicBezTo>
                    <a:pt x="2213" y="12751"/>
                    <a:pt x="3432" y="10853"/>
                    <a:pt x="4909" y="8556"/>
                  </a:cubicBezTo>
                  <a:lnTo>
                    <a:pt x="4909" y="8556"/>
                  </a:lnTo>
                  <a:cubicBezTo>
                    <a:pt x="6070" y="10150"/>
                    <a:pt x="7380" y="11954"/>
                    <a:pt x="8797" y="13902"/>
                  </a:cubicBezTo>
                  <a:lnTo>
                    <a:pt x="8849" y="13972"/>
                  </a:lnTo>
                  <a:lnTo>
                    <a:pt x="8893" y="13898"/>
                  </a:lnTo>
                  <a:cubicBezTo>
                    <a:pt x="9841" y="12320"/>
                    <a:pt x="10847" y="10650"/>
                    <a:pt x="11887" y="8920"/>
                  </a:cubicBezTo>
                  <a:cubicBezTo>
                    <a:pt x="12947" y="7155"/>
                    <a:pt x="13973" y="5451"/>
                    <a:pt x="14922" y="3868"/>
                  </a:cubicBezTo>
                  <a:lnTo>
                    <a:pt x="14922" y="3868"/>
                  </a:lnTo>
                  <a:cubicBezTo>
                    <a:pt x="17592" y="3863"/>
                    <a:pt x="20050" y="3863"/>
                    <a:pt x="22148" y="3859"/>
                  </a:cubicBezTo>
                  <a:lnTo>
                    <a:pt x="22169" y="3859"/>
                  </a:lnTo>
                  <a:lnTo>
                    <a:pt x="22183" y="3841"/>
                  </a:lnTo>
                  <a:cubicBezTo>
                    <a:pt x="23306" y="2371"/>
                    <a:pt x="24285" y="1094"/>
                    <a:pt x="25070" y="65"/>
                  </a:cubicBezTo>
                  <a:lnTo>
                    <a:pt x="25070" y="65"/>
                  </a:lnTo>
                  <a:cubicBezTo>
                    <a:pt x="26221" y="57"/>
                    <a:pt x="27133" y="53"/>
                    <a:pt x="27760" y="49"/>
                  </a:cubicBezTo>
                  <a:cubicBezTo>
                    <a:pt x="28069" y="49"/>
                    <a:pt x="28310" y="44"/>
                    <a:pt x="28476" y="44"/>
                  </a:cubicBezTo>
                  <a:cubicBezTo>
                    <a:pt x="28555" y="39"/>
                    <a:pt x="28611" y="39"/>
                    <a:pt x="28660" y="39"/>
                  </a:cubicBezTo>
                  <a:cubicBezTo>
                    <a:pt x="28698" y="35"/>
                    <a:pt x="28720" y="35"/>
                    <a:pt x="28720" y="35"/>
                  </a:cubicBezTo>
                  <a:cubicBezTo>
                    <a:pt x="28720" y="31"/>
                    <a:pt x="28698" y="31"/>
                    <a:pt x="28660" y="31"/>
                  </a:cubicBezTo>
                  <a:cubicBezTo>
                    <a:pt x="28611" y="27"/>
                    <a:pt x="28555" y="27"/>
                    <a:pt x="28476" y="27"/>
                  </a:cubicBezTo>
                  <a:cubicBezTo>
                    <a:pt x="28310" y="23"/>
                    <a:pt x="28069" y="17"/>
                    <a:pt x="27760" y="17"/>
                  </a:cubicBezTo>
                  <a:cubicBezTo>
                    <a:pt x="27130" y="13"/>
                    <a:pt x="26213" y="9"/>
                    <a:pt x="250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6508159" y="3234899"/>
              <a:ext cx="24569" cy="23603"/>
            </a:xfrm>
            <a:custGeom>
              <a:avLst/>
              <a:gdLst/>
              <a:ahLst/>
              <a:cxnLst/>
              <a:rect l="l" t="t" r="r" b="b"/>
              <a:pathLst>
                <a:path w="560" h="538" extrusionOk="0">
                  <a:moveTo>
                    <a:pt x="281" y="1"/>
                  </a:moveTo>
                  <a:cubicBezTo>
                    <a:pt x="128" y="1"/>
                    <a:pt x="1" y="123"/>
                    <a:pt x="1" y="271"/>
                  </a:cubicBezTo>
                  <a:cubicBezTo>
                    <a:pt x="1" y="416"/>
                    <a:pt x="128" y="538"/>
                    <a:pt x="281" y="538"/>
                  </a:cubicBezTo>
                  <a:cubicBezTo>
                    <a:pt x="434" y="538"/>
                    <a:pt x="560" y="416"/>
                    <a:pt x="560" y="271"/>
                  </a:cubicBezTo>
                  <a:cubicBezTo>
                    <a:pt x="560" y="123"/>
                    <a:pt x="434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239970" y="3886175"/>
              <a:ext cx="157985" cy="152281"/>
            </a:xfrm>
            <a:custGeom>
              <a:avLst/>
              <a:gdLst/>
              <a:ahLst/>
              <a:cxnLst/>
              <a:rect l="l" t="t" r="r" b="b"/>
              <a:pathLst>
                <a:path w="3601" h="3471" extrusionOk="0">
                  <a:moveTo>
                    <a:pt x="1801" y="1"/>
                  </a:moveTo>
                  <a:cubicBezTo>
                    <a:pt x="805" y="1"/>
                    <a:pt x="0" y="779"/>
                    <a:pt x="0" y="1735"/>
                  </a:cubicBezTo>
                  <a:cubicBezTo>
                    <a:pt x="0" y="2693"/>
                    <a:pt x="805" y="3470"/>
                    <a:pt x="1801" y="3470"/>
                  </a:cubicBezTo>
                  <a:cubicBezTo>
                    <a:pt x="2792" y="3470"/>
                    <a:pt x="3601" y="2693"/>
                    <a:pt x="3601" y="1735"/>
                  </a:cubicBezTo>
                  <a:cubicBezTo>
                    <a:pt x="3601" y="779"/>
                    <a:pt x="2792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6515090" y="3911314"/>
              <a:ext cx="927816" cy="28605"/>
            </a:xfrm>
            <a:custGeom>
              <a:avLst/>
              <a:gdLst/>
              <a:ahLst/>
              <a:cxnLst/>
              <a:rect l="l" t="t" r="r" b="b"/>
              <a:pathLst>
                <a:path w="2114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21148" y="652"/>
                  </a:lnTo>
                  <a:lnTo>
                    <a:pt x="21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6515090" y="3982430"/>
              <a:ext cx="385244" cy="28649"/>
            </a:xfrm>
            <a:custGeom>
              <a:avLst/>
              <a:gdLst/>
              <a:ahLst/>
              <a:cxnLst/>
              <a:rect l="l" t="t" r="r" b="b"/>
              <a:pathLst>
                <a:path w="8781" h="653" extrusionOk="0">
                  <a:moveTo>
                    <a:pt x="0" y="1"/>
                  </a:moveTo>
                  <a:lnTo>
                    <a:pt x="0" y="652"/>
                  </a:lnTo>
                  <a:lnTo>
                    <a:pt x="8780" y="652"/>
                  </a:lnTo>
                  <a:lnTo>
                    <a:pt x="87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26"/>
          <p:cNvGrpSpPr/>
          <p:nvPr/>
        </p:nvGrpSpPr>
        <p:grpSpPr>
          <a:xfrm>
            <a:off x="6555768" y="1300268"/>
            <a:ext cx="906007" cy="136663"/>
            <a:chOff x="5966342" y="1378202"/>
            <a:chExt cx="906007" cy="136663"/>
          </a:xfrm>
        </p:grpSpPr>
        <p:sp>
          <p:nvSpPr>
            <p:cNvPr id="226" name="Google Shape;226;p26"/>
            <p:cNvSpPr/>
            <p:nvPr/>
          </p:nvSpPr>
          <p:spPr>
            <a:xfrm>
              <a:off x="5966342" y="1378202"/>
              <a:ext cx="153861" cy="136663"/>
            </a:xfrm>
            <a:custGeom>
              <a:avLst/>
              <a:gdLst/>
              <a:ahLst/>
              <a:cxnLst/>
              <a:rect l="l" t="t" r="r" b="b"/>
              <a:pathLst>
                <a:path w="3507" h="3115" extrusionOk="0">
                  <a:moveTo>
                    <a:pt x="1755" y="0"/>
                  </a:moveTo>
                  <a:cubicBezTo>
                    <a:pt x="1298" y="0"/>
                    <a:pt x="846" y="200"/>
                    <a:pt x="539" y="582"/>
                  </a:cubicBezTo>
                  <a:cubicBezTo>
                    <a:pt x="1" y="1255"/>
                    <a:pt x="110" y="2234"/>
                    <a:pt x="779" y="2772"/>
                  </a:cubicBezTo>
                  <a:cubicBezTo>
                    <a:pt x="1068" y="3002"/>
                    <a:pt x="1412" y="3115"/>
                    <a:pt x="1754" y="3115"/>
                  </a:cubicBezTo>
                  <a:cubicBezTo>
                    <a:pt x="2210" y="3115"/>
                    <a:pt x="2661" y="2915"/>
                    <a:pt x="2968" y="2531"/>
                  </a:cubicBezTo>
                  <a:cubicBezTo>
                    <a:pt x="3506" y="1863"/>
                    <a:pt x="3401" y="879"/>
                    <a:pt x="2728" y="342"/>
                  </a:cubicBezTo>
                  <a:cubicBezTo>
                    <a:pt x="2440" y="112"/>
                    <a:pt x="2096" y="0"/>
                    <a:pt x="17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6003940" y="1423214"/>
              <a:ext cx="78839" cy="50146"/>
            </a:xfrm>
            <a:custGeom>
              <a:avLst/>
              <a:gdLst/>
              <a:ahLst/>
              <a:cxnLst/>
              <a:rect l="l" t="t" r="r" b="b"/>
              <a:pathLst>
                <a:path w="1797" h="1143" extrusionOk="0">
                  <a:moveTo>
                    <a:pt x="1767" y="1"/>
                  </a:moveTo>
                  <a:cubicBezTo>
                    <a:pt x="1725" y="1"/>
                    <a:pt x="1324" y="360"/>
                    <a:pt x="853" y="819"/>
                  </a:cubicBezTo>
                  <a:cubicBezTo>
                    <a:pt x="797" y="875"/>
                    <a:pt x="741" y="928"/>
                    <a:pt x="686" y="981"/>
                  </a:cubicBezTo>
                  <a:lnTo>
                    <a:pt x="686" y="981"/>
                  </a:lnTo>
                  <a:cubicBezTo>
                    <a:pt x="336" y="636"/>
                    <a:pt x="62" y="394"/>
                    <a:pt x="26" y="394"/>
                  </a:cubicBezTo>
                  <a:cubicBezTo>
                    <a:pt x="25" y="394"/>
                    <a:pt x="24" y="394"/>
                    <a:pt x="23" y="395"/>
                  </a:cubicBezTo>
                  <a:cubicBezTo>
                    <a:pt x="1" y="413"/>
                    <a:pt x="267" y="714"/>
                    <a:pt x="647" y="1099"/>
                  </a:cubicBezTo>
                  <a:lnTo>
                    <a:pt x="687" y="1143"/>
                  </a:lnTo>
                  <a:lnTo>
                    <a:pt x="726" y="1103"/>
                  </a:lnTo>
                  <a:cubicBezTo>
                    <a:pt x="796" y="1038"/>
                    <a:pt x="862" y="972"/>
                    <a:pt x="931" y="902"/>
                  </a:cubicBezTo>
                  <a:cubicBezTo>
                    <a:pt x="1421" y="430"/>
                    <a:pt x="1796" y="28"/>
                    <a:pt x="1770" y="2"/>
                  </a:cubicBezTo>
                  <a:cubicBezTo>
                    <a:pt x="1770" y="1"/>
                    <a:pt x="1769" y="1"/>
                    <a:pt x="1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6235364" y="1411237"/>
              <a:ext cx="636985" cy="5177"/>
            </a:xfrm>
            <a:custGeom>
              <a:avLst/>
              <a:gdLst/>
              <a:ahLst/>
              <a:cxnLst/>
              <a:rect l="l" t="t" r="r" b="b"/>
              <a:pathLst>
                <a:path w="14519" h="118" extrusionOk="0">
                  <a:moveTo>
                    <a:pt x="7259" y="0"/>
                  </a:moveTo>
                  <a:cubicBezTo>
                    <a:pt x="3252" y="0"/>
                    <a:pt x="0" y="26"/>
                    <a:pt x="0" y="61"/>
                  </a:cubicBezTo>
                  <a:cubicBezTo>
                    <a:pt x="0" y="91"/>
                    <a:pt x="3252" y="117"/>
                    <a:pt x="7259" y="117"/>
                  </a:cubicBezTo>
                  <a:cubicBezTo>
                    <a:pt x="11267" y="117"/>
                    <a:pt x="14518" y="91"/>
                    <a:pt x="14518" y="61"/>
                  </a:cubicBezTo>
                  <a:cubicBezTo>
                    <a:pt x="14518" y="26"/>
                    <a:pt x="11267" y="0"/>
                    <a:pt x="7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6242822" y="1473535"/>
              <a:ext cx="368178" cy="5001"/>
            </a:xfrm>
            <a:custGeom>
              <a:avLst/>
              <a:gdLst/>
              <a:ahLst/>
              <a:cxnLst/>
              <a:rect l="l" t="t" r="r" b="b"/>
              <a:pathLst>
                <a:path w="8392" h="114" extrusionOk="0">
                  <a:moveTo>
                    <a:pt x="4196" y="0"/>
                  </a:moveTo>
                  <a:cubicBezTo>
                    <a:pt x="1880" y="0"/>
                    <a:pt x="0" y="22"/>
                    <a:pt x="0" y="57"/>
                  </a:cubicBezTo>
                  <a:cubicBezTo>
                    <a:pt x="0" y="87"/>
                    <a:pt x="1880" y="113"/>
                    <a:pt x="4196" y="113"/>
                  </a:cubicBezTo>
                  <a:cubicBezTo>
                    <a:pt x="6513" y="113"/>
                    <a:pt x="8391" y="87"/>
                    <a:pt x="8391" y="57"/>
                  </a:cubicBezTo>
                  <a:cubicBezTo>
                    <a:pt x="8391" y="22"/>
                    <a:pt x="6513" y="0"/>
                    <a:pt x="41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26"/>
          <p:cNvGrpSpPr/>
          <p:nvPr/>
        </p:nvGrpSpPr>
        <p:grpSpPr>
          <a:xfrm>
            <a:off x="8403913" y="2684001"/>
            <a:ext cx="496812" cy="472595"/>
            <a:chOff x="7814487" y="2708836"/>
            <a:chExt cx="496812" cy="472595"/>
          </a:xfrm>
        </p:grpSpPr>
        <p:sp>
          <p:nvSpPr>
            <p:cNvPr id="231" name="Google Shape;231;p26"/>
            <p:cNvSpPr/>
            <p:nvPr/>
          </p:nvSpPr>
          <p:spPr>
            <a:xfrm>
              <a:off x="7814487" y="2708836"/>
              <a:ext cx="496812" cy="472595"/>
            </a:xfrm>
            <a:custGeom>
              <a:avLst/>
              <a:gdLst/>
              <a:ahLst/>
              <a:cxnLst/>
              <a:rect l="l" t="t" r="r" b="b"/>
              <a:pathLst>
                <a:path w="11324" h="10772" extrusionOk="0">
                  <a:moveTo>
                    <a:pt x="5922" y="1"/>
                  </a:moveTo>
                  <a:cubicBezTo>
                    <a:pt x="5106" y="1"/>
                    <a:pt x="4261" y="192"/>
                    <a:pt x="3483" y="573"/>
                  </a:cubicBezTo>
                  <a:cubicBezTo>
                    <a:pt x="2399" y="1115"/>
                    <a:pt x="1473" y="2063"/>
                    <a:pt x="957" y="3243"/>
                  </a:cubicBezTo>
                  <a:cubicBezTo>
                    <a:pt x="555" y="4152"/>
                    <a:pt x="442" y="5153"/>
                    <a:pt x="555" y="6088"/>
                  </a:cubicBezTo>
                  <a:cubicBezTo>
                    <a:pt x="621" y="6556"/>
                    <a:pt x="743" y="7006"/>
                    <a:pt x="910" y="7430"/>
                  </a:cubicBezTo>
                  <a:cubicBezTo>
                    <a:pt x="1077" y="7838"/>
                    <a:pt x="1295" y="8215"/>
                    <a:pt x="1542" y="8563"/>
                  </a:cubicBezTo>
                  <a:lnTo>
                    <a:pt x="1542" y="8563"/>
                  </a:lnTo>
                  <a:cubicBezTo>
                    <a:pt x="1044" y="9137"/>
                    <a:pt x="560" y="9694"/>
                    <a:pt x="101" y="10223"/>
                  </a:cubicBezTo>
                  <a:lnTo>
                    <a:pt x="0" y="10336"/>
                  </a:lnTo>
                  <a:lnTo>
                    <a:pt x="0" y="10336"/>
                  </a:lnTo>
                  <a:lnTo>
                    <a:pt x="153" y="10306"/>
                  </a:lnTo>
                  <a:cubicBezTo>
                    <a:pt x="1085" y="10128"/>
                    <a:pt x="1978" y="9954"/>
                    <a:pt x="2797" y="9798"/>
                  </a:cubicBezTo>
                  <a:lnTo>
                    <a:pt x="2797" y="9798"/>
                  </a:lnTo>
                  <a:cubicBezTo>
                    <a:pt x="3776" y="10473"/>
                    <a:pt x="4868" y="10768"/>
                    <a:pt x="5822" y="10768"/>
                  </a:cubicBezTo>
                  <a:cubicBezTo>
                    <a:pt x="5831" y="10768"/>
                    <a:pt x="5839" y="10768"/>
                    <a:pt x="5847" y="10768"/>
                  </a:cubicBezTo>
                  <a:cubicBezTo>
                    <a:pt x="5892" y="10770"/>
                    <a:pt x="5938" y="10771"/>
                    <a:pt x="5984" y="10771"/>
                  </a:cubicBezTo>
                  <a:cubicBezTo>
                    <a:pt x="6057" y="10771"/>
                    <a:pt x="6131" y="10768"/>
                    <a:pt x="6201" y="10760"/>
                  </a:cubicBezTo>
                  <a:cubicBezTo>
                    <a:pt x="6319" y="10751"/>
                    <a:pt x="6433" y="10747"/>
                    <a:pt x="6547" y="10734"/>
                  </a:cubicBezTo>
                  <a:cubicBezTo>
                    <a:pt x="6769" y="10695"/>
                    <a:pt x="6983" y="10673"/>
                    <a:pt x="7185" y="10611"/>
                  </a:cubicBezTo>
                  <a:cubicBezTo>
                    <a:pt x="7285" y="10585"/>
                    <a:pt x="7386" y="10558"/>
                    <a:pt x="7481" y="10532"/>
                  </a:cubicBezTo>
                  <a:cubicBezTo>
                    <a:pt x="7574" y="10498"/>
                    <a:pt x="7665" y="10467"/>
                    <a:pt x="7757" y="10432"/>
                  </a:cubicBezTo>
                  <a:cubicBezTo>
                    <a:pt x="7941" y="10375"/>
                    <a:pt x="8098" y="10288"/>
                    <a:pt x="8256" y="10217"/>
                  </a:cubicBezTo>
                  <a:cubicBezTo>
                    <a:pt x="8875" y="9912"/>
                    <a:pt x="9287" y="9558"/>
                    <a:pt x="9557" y="9313"/>
                  </a:cubicBezTo>
                  <a:cubicBezTo>
                    <a:pt x="9688" y="9186"/>
                    <a:pt x="9776" y="9077"/>
                    <a:pt x="9841" y="9011"/>
                  </a:cubicBezTo>
                  <a:cubicBezTo>
                    <a:pt x="9907" y="8942"/>
                    <a:pt x="9934" y="8902"/>
                    <a:pt x="9934" y="8902"/>
                  </a:cubicBezTo>
                  <a:lnTo>
                    <a:pt x="9934" y="8902"/>
                  </a:lnTo>
                  <a:cubicBezTo>
                    <a:pt x="9934" y="8902"/>
                    <a:pt x="9898" y="8933"/>
                    <a:pt x="9833" y="8999"/>
                  </a:cubicBezTo>
                  <a:cubicBezTo>
                    <a:pt x="9763" y="9064"/>
                    <a:pt x="9671" y="9169"/>
                    <a:pt x="9536" y="9291"/>
                  </a:cubicBezTo>
                  <a:cubicBezTo>
                    <a:pt x="9265" y="9527"/>
                    <a:pt x="8849" y="9872"/>
                    <a:pt x="8234" y="10170"/>
                  </a:cubicBezTo>
                  <a:cubicBezTo>
                    <a:pt x="8076" y="10240"/>
                    <a:pt x="7915" y="10322"/>
                    <a:pt x="7735" y="10375"/>
                  </a:cubicBezTo>
                  <a:cubicBezTo>
                    <a:pt x="7648" y="10406"/>
                    <a:pt x="7556" y="10441"/>
                    <a:pt x="7465" y="10471"/>
                  </a:cubicBezTo>
                  <a:cubicBezTo>
                    <a:pt x="7368" y="10498"/>
                    <a:pt x="7268" y="10520"/>
                    <a:pt x="7171" y="10546"/>
                  </a:cubicBezTo>
                  <a:cubicBezTo>
                    <a:pt x="6971" y="10602"/>
                    <a:pt x="6757" y="10624"/>
                    <a:pt x="6538" y="10663"/>
                  </a:cubicBezTo>
                  <a:cubicBezTo>
                    <a:pt x="6428" y="10673"/>
                    <a:pt x="6315" y="10677"/>
                    <a:pt x="6197" y="10685"/>
                  </a:cubicBezTo>
                  <a:cubicBezTo>
                    <a:pt x="6135" y="10693"/>
                    <a:pt x="6071" y="10696"/>
                    <a:pt x="6008" y="10696"/>
                  </a:cubicBezTo>
                  <a:cubicBezTo>
                    <a:pt x="5954" y="10696"/>
                    <a:pt x="5901" y="10694"/>
                    <a:pt x="5847" y="10689"/>
                  </a:cubicBezTo>
                  <a:cubicBezTo>
                    <a:pt x="4895" y="10689"/>
                    <a:pt x="3806" y="10388"/>
                    <a:pt x="2836" y="9707"/>
                  </a:cubicBezTo>
                  <a:lnTo>
                    <a:pt x="2818" y="9693"/>
                  </a:lnTo>
                  <a:lnTo>
                    <a:pt x="2802" y="9698"/>
                  </a:lnTo>
                  <a:cubicBezTo>
                    <a:pt x="2019" y="9847"/>
                    <a:pt x="1171" y="10008"/>
                    <a:pt x="281" y="10176"/>
                  </a:cubicBezTo>
                  <a:lnTo>
                    <a:pt x="281" y="10176"/>
                  </a:lnTo>
                  <a:cubicBezTo>
                    <a:pt x="720" y="9676"/>
                    <a:pt x="1181" y="9146"/>
                    <a:pt x="1652" y="8605"/>
                  </a:cubicBezTo>
                  <a:lnTo>
                    <a:pt x="1682" y="8571"/>
                  </a:lnTo>
                  <a:lnTo>
                    <a:pt x="1656" y="8535"/>
                  </a:lnTo>
                  <a:cubicBezTo>
                    <a:pt x="1408" y="8182"/>
                    <a:pt x="1184" y="7801"/>
                    <a:pt x="1014" y="7391"/>
                  </a:cubicBezTo>
                  <a:cubicBezTo>
                    <a:pt x="852" y="6971"/>
                    <a:pt x="734" y="6530"/>
                    <a:pt x="668" y="6070"/>
                  </a:cubicBezTo>
                  <a:cubicBezTo>
                    <a:pt x="559" y="5157"/>
                    <a:pt x="668" y="4178"/>
                    <a:pt x="1067" y="3291"/>
                  </a:cubicBezTo>
                  <a:cubicBezTo>
                    <a:pt x="1569" y="2137"/>
                    <a:pt x="2478" y="1207"/>
                    <a:pt x="3536" y="673"/>
                  </a:cubicBezTo>
                  <a:cubicBezTo>
                    <a:pt x="4296" y="301"/>
                    <a:pt x="5124" y="110"/>
                    <a:pt x="5925" y="110"/>
                  </a:cubicBezTo>
                  <a:cubicBezTo>
                    <a:pt x="6244" y="110"/>
                    <a:pt x="6558" y="140"/>
                    <a:pt x="6862" y="201"/>
                  </a:cubicBezTo>
                  <a:cubicBezTo>
                    <a:pt x="7394" y="302"/>
                    <a:pt x="7910" y="463"/>
                    <a:pt x="8360" y="713"/>
                  </a:cubicBezTo>
                  <a:cubicBezTo>
                    <a:pt x="8815" y="957"/>
                    <a:pt x="9230" y="1246"/>
                    <a:pt x="9575" y="1591"/>
                  </a:cubicBezTo>
                  <a:cubicBezTo>
                    <a:pt x="10287" y="2256"/>
                    <a:pt x="10733" y="3077"/>
                    <a:pt x="10973" y="3864"/>
                  </a:cubicBezTo>
                  <a:cubicBezTo>
                    <a:pt x="11223" y="4654"/>
                    <a:pt x="11253" y="5419"/>
                    <a:pt x="11170" y="6070"/>
                  </a:cubicBezTo>
                  <a:cubicBezTo>
                    <a:pt x="11096" y="6726"/>
                    <a:pt x="10894" y="7264"/>
                    <a:pt x="10702" y="7683"/>
                  </a:cubicBezTo>
                  <a:cubicBezTo>
                    <a:pt x="10650" y="7788"/>
                    <a:pt x="10602" y="7889"/>
                    <a:pt x="10559" y="7980"/>
                  </a:cubicBezTo>
                  <a:cubicBezTo>
                    <a:pt x="10511" y="8067"/>
                    <a:pt x="10454" y="8151"/>
                    <a:pt x="10410" y="8225"/>
                  </a:cubicBezTo>
                  <a:cubicBezTo>
                    <a:pt x="10318" y="8378"/>
                    <a:pt x="10235" y="8509"/>
                    <a:pt x="10156" y="8601"/>
                  </a:cubicBezTo>
                  <a:cubicBezTo>
                    <a:pt x="10087" y="8697"/>
                    <a:pt x="10029" y="8771"/>
                    <a:pt x="9990" y="8824"/>
                  </a:cubicBezTo>
                  <a:cubicBezTo>
                    <a:pt x="9950" y="8876"/>
                    <a:pt x="9934" y="8902"/>
                    <a:pt x="9934" y="8902"/>
                  </a:cubicBezTo>
                  <a:cubicBezTo>
                    <a:pt x="9938" y="8902"/>
                    <a:pt x="9960" y="8880"/>
                    <a:pt x="9999" y="8833"/>
                  </a:cubicBezTo>
                  <a:cubicBezTo>
                    <a:pt x="10043" y="8781"/>
                    <a:pt x="10099" y="8706"/>
                    <a:pt x="10174" y="8614"/>
                  </a:cubicBezTo>
                  <a:cubicBezTo>
                    <a:pt x="10257" y="8523"/>
                    <a:pt x="10344" y="8396"/>
                    <a:pt x="10436" y="8243"/>
                  </a:cubicBezTo>
                  <a:cubicBezTo>
                    <a:pt x="10484" y="8168"/>
                    <a:pt x="10541" y="8089"/>
                    <a:pt x="10593" y="7998"/>
                  </a:cubicBezTo>
                  <a:cubicBezTo>
                    <a:pt x="10642" y="7906"/>
                    <a:pt x="10690" y="7810"/>
                    <a:pt x="10742" y="7706"/>
                  </a:cubicBezTo>
                  <a:cubicBezTo>
                    <a:pt x="10943" y="7286"/>
                    <a:pt x="11152" y="6744"/>
                    <a:pt x="11235" y="6080"/>
                  </a:cubicBezTo>
                  <a:cubicBezTo>
                    <a:pt x="11323" y="5419"/>
                    <a:pt x="11297" y="4646"/>
                    <a:pt x="11057" y="3842"/>
                  </a:cubicBezTo>
                  <a:cubicBezTo>
                    <a:pt x="10816" y="3038"/>
                    <a:pt x="10362" y="2203"/>
                    <a:pt x="9645" y="1522"/>
                  </a:cubicBezTo>
                  <a:cubicBezTo>
                    <a:pt x="9295" y="1171"/>
                    <a:pt x="8871" y="870"/>
                    <a:pt x="8409" y="626"/>
                  </a:cubicBezTo>
                  <a:cubicBezTo>
                    <a:pt x="7949" y="368"/>
                    <a:pt x="7425" y="197"/>
                    <a:pt x="6878" y="92"/>
                  </a:cubicBezTo>
                  <a:cubicBezTo>
                    <a:pt x="6568" y="31"/>
                    <a:pt x="6247" y="1"/>
                    <a:pt x="592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7997564" y="2870459"/>
              <a:ext cx="149956" cy="166277"/>
            </a:xfrm>
            <a:custGeom>
              <a:avLst/>
              <a:gdLst/>
              <a:ahLst/>
              <a:cxnLst/>
              <a:rect l="l" t="t" r="r" b="b"/>
              <a:pathLst>
                <a:path w="3418" h="3790" extrusionOk="0">
                  <a:moveTo>
                    <a:pt x="0" y="0"/>
                  </a:moveTo>
                  <a:lnTo>
                    <a:pt x="192" y="927"/>
                  </a:lnTo>
                  <a:lnTo>
                    <a:pt x="385" y="1858"/>
                  </a:lnTo>
                  <a:lnTo>
                    <a:pt x="874" y="1420"/>
                  </a:lnTo>
                  <a:lnTo>
                    <a:pt x="2981" y="3790"/>
                  </a:lnTo>
                  <a:lnTo>
                    <a:pt x="3418" y="3401"/>
                  </a:lnTo>
                  <a:lnTo>
                    <a:pt x="1312" y="1032"/>
                  </a:lnTo>
                  <a:lnTo>
                    <a:pt x="1801" y="595"/>
                  </a:lnTo>
                  <a:lnTo>
                    <a:pt x="900" y="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26"/>
          <p:cNvGrpSpPr/>
          <p:nvPr/>
        </p:nvGrpSpPr>
        <p:grpSpPr>
          <a:xfrm>
            <a:off x="8101551" y="1353365"/>
            <a:ext cx="1109728" cy="1002828"/>
            <a:chOff x="7739700" y="1512500"/>
            <a:chExt cx="1109728" cy="1002828"/>
          </a:xfrm>
        </p:grpSpPr>
        <p:sp>
          <p:nvSpPr>
            <p:cNvPr id="234" name="Google Shape;234;p26"/>
            <p:cNvSpPr/>
            <p:nvPr/>
          </p:nvSpPr>
          <p:spPr>
            <a:xfrm>
              <a:off x="7739700" y="1512500"/>
              <a:ext cx="1109728" cy="1002828"/>
            </a:xfrm>
            <a:custGeom>
              <a:avLst/>
              <a:gdLst/>
              <a:ahLst/>
              <a:cxnLst/>
              <a:rect l="l" t="t" r="r" b="b"/>
              <a:pathLst>
                <a:path w="35998" h="15301" extrusionOk="0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" name="Google Shape;235;p26"/>
            <p:cNvGrpSpPr/>
            <p:nvPr/>
          </p:nvGrpSpPr>
          <p:grpSpPr>
            <a:xfrm>
              <a:off x="7808309" y="1610467"/>
              <a:ext cx="966993" cy="714803"/>
              <a:chOff x="7183784" y="1476167"/>
              <a:chExt cx="966993" cy="714803"/>
            </a:xfrm>
          </p:grpSpPr>
          <p:sp>
            <p:nvSpPr>
              <p:cNvPr id="236" name="Google Shape;236;p26"/>
              <p:cNvSpPr/>
              <p:nvPr/>
            </p:nvSpPr>
            <p:spPr>
              <a:xfrm>
                <a:off x="7393754" y="1862327"/>
                <a:ext cx="21541" cy="21322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6" extrusionOk="0">
                    <a:moveTo>
                      <a:pt x="245" y="1"/>
                    </a:moveTo>
                    <a:cubicBezTo>
                      <a:pt x="110" y="1"/>
                      <a:pt x="1" y="110"/>
                      <a:pt x="1" y="241"/>
                    </a:cubicBezTo>
                    <a:cubicBezTo>
                      <a:pt x="1" y="376"/>
                      <a:pt x="110" y="485"/>
                      <a:pt x="245" y="485"/>
                    </a:cubicBezTo>
                    <a:cubicBezTo>
                      <a:pt x="380" y="485"/>
                      <a:pt x="491" y="376"/>
                      <a:pt x="491" y="241"/>
                    </a:cubicBezTo>
                    <a:cubicBezTo>
                      <a:pt x="491" y="110"/>
                      <a:pt x="380" y="1"/>
                      <a:pt x="24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7725074" y="1944762"/>
                <a:ext cx="58877" cy="216730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4940" extrusionOk="0">
                    <a:moveTo>
                      <a:pt x="0" y="0"/>
                    </a:moveTo>
                    <a:lnTo>
                      <a:pt x="0" y="4939"/>
                    </a:lnTo>
                    <a:lnTo>
                      <a:pt x="1342" y="4939"/>
                    </a:lnTo>
                    <a:lnTo>
                      <a:pt x="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6"/>
              <p:cNvSpPr/>
              <p:nvPr/>
            </p:nvSpPr>
            <p:spPr>
              <a:xfrm>
                <a:off x="7992132" y="1848727"/>
                <a:ext cx="59096" cy="31276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7129" extrusionOk="0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6"/>
              <p:cNvSpPr/>
              <p:nvPr/>
            </p:nvSpPr>
            <p:spPr>
              <a:xfrm>
                <a:off x="7309959" y="1716409"/>
                <a:ext cx="59096" cy="44508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0145" extrusionOk="0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6"/>
              <p:cNvSpPr/>
              <p:nvPr/>
            </p:nvSpPr>
            <p:spPr>
              <a:xfrm>
                <a:off x="7450700" y="1848727"/>
                <a:ext cx="59096" cy="31276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7129" extrusionOk="0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6"/>
              <p:cNvSpPr/>
              <p:nvPr/>
            </p:nvSpPr>
            <p:spPr>
              <a:xfrm>
                <a:off x="7577840" y="1680391"/>
                <a:ext cx="59052" cy="481106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0966" extrusionOk="0">
                    <a:moveTo>
                      <a:pt x="0" y="1"/>
                    </a:moveTo>
                    <a:lnTo>
                      <a:pt x="0" y="10965"/>
                    </a:lnTo>
                    <a:lnTo>
                      <a:pt x="1346" y="10965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6"/>
              <p:cNvSpPr/>
              <p:nvPr/>
            </p:nvSpPr>
            <p:spPr>
              <a:xfrm>
                <a:off x="7378618" y="1668677"/>
                <a:ext cx="59096" cy="49282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1233" extrusionOk="0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6"/>
              <p:cNvSpPr/>
              <p:nvPr/>
            </p:nvSpPr>
            <p:spPr>
              <a:xfrm>
                <a:off x="7651457" y="1565534"/>
                <a:ext cx="58877" cy="595964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3584" extrusionOk="0">
                    <a:moveTo>
                      <a:pt x="0" y="1"/>
                    </a:moveTo>
                    <a:lnTo>
                      <a:pt x="0" y="13583"/>
                    </a:lnTo>
                    <a:lnTo>
                      <a:pt x="1342" y="13583"/>
                    </a:lnTo>
                    <a:lnTo>
                      <a:pt x="13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6"/>
              <p:cNvSpPr/>
              <p:nvPr/>
            </p:nvSpPr>
            <p:spPr>
              <a:xfrm>
                <a:off x="7211248" y="2185793"/>
                <a:ext cx="939530" cy="5177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18" extrusionOk="0">
                    <a:moveTo>
                      <a:pt x="10708" y="0"/>
                    </a:moveTo>
                    <a:cubicBezTo>
                      <a:pt x="4794" y="0"/>
                      <a:pt x="0" y="26"/>
                      <a:pt x="0" y="57"/>
                    </a:cubicBezTo>
                    <a:cubicBezTo>
                      <a:pt x="0" y="91"/>
                      <a:pt x="4794" y="118"/>
                      <a:pt x="10708" y="118"/>
                    </a:cubicBezTo>
                    <a:cubicBezTo>
                      <a:pt x="16620" y="118"/>
                      <a:pt x="21414" y="91"/>
                      <a:pt x="21414" y="57"/>
                    </a:cubicBezTo>
                    <a:cubicBezTo>
                      <a:pt x="21414" y="26"/>
                      <a:pt x="16620" y="0"/>
                      <a:pt x="10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6"/>
              <p:cNvSpPr/>
              <p:nvPr/>
            </p:nvSpPr>
            <p:spPr>
              <a:xfrm>
                <a:off x="7183784" y="2082256"/>
                <a:ext cx="36151" cy="11889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71" extrusionOk="0">
                    <a:moveTo>
                      <a:pt x="1" y="0"/>
                    </a:moveTo>
                    <a:lnTo>
                      <a:pt x="1" y="271"/>
                    </a:lnTo>
                    <a:lnTo>
                      <a:pt x="823" y="271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6"/>
              <p:cNvSpPr/>
              <p:nvPr/>
            </p:nvSpPr>
            <p:spPr>
              <a:xfrm>
                <a:off x="7183784" y="1923879"/>
                <a:ext cx="36151" cy="11933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72" extrusionOk="0">
                    <a:moveTo>
                      <a:pt x="1" y="0"/>
                    </a:moveTo>
                    <a:lnTo>
                      <a:pt x="1" y="272"/>
                    </a:lnTo>
                    <a:lnTo>
                      <a:pt x="823" y="272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7183784" y="1625902"/>
                <a:ext cx="36151" cy="1175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68" extrusionOk="0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7183784" y="1476167"/>
                <a:ext cx="36151" cy="1175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68" extrusionOk="0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7185758" y="1774890"/>
                <a:ext cx="36063" cy="11933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72" extrusionOk="0">
                    <a:moveTo>
                      <a:pt x="0" y="1"/>
                    </a:moveTo>
                    <a:lnTo>
                      <a:pt x="0" y="272"/>
                    </a:lnTo>
                    <a:lnTo>
                      <a:pt x="821" y="272"/>
                    </a:lnTo>
                    <a:lnTo>
                      <a:pt x="8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7851391" y="1716409"/>
                <a:ext cx="59096" cy="44508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0145" extrusionOk="0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6"/>
              <p:cNvSpPr/>
              <p:nvPr/>
            </p:nvSpPr>
            <p:spPr>
              <a:xfrm>
                <a:off x="7920051" y="1668677"/>
                <a:ext cx="59096" cy="49282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1233" extrusionOk="0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3" name="Google Shape;403;p26"/>
          <p:cNvGrpSpPr/>
          <p:nvPr/>
        </p:nvGrpSpPr>
        <p:grpSpPr>
          <a:xfrm>
            <a:off x="4751059" y="3035981"/>
            <a:ext cx="1579322" cy="671293"/>
            <a:chOff x="4161633" y="3060816"/>
            <a:chExt cx="1579322" cy="671293"/>
          </a:xfrm>
        </p:grpSpPr>
        <p:sp>
          <p:nvSpPr>
            <p:cNvPr id="404" name="Google Shape;404;p26"/>
            <p:cNvSpPr/>
            <p:nvPr/>
          </p:nvSpPr>
          <p:spPr>
            <a:xfrm>
              <a:off x="4161633" y="3060816"/>
              <a:ext cx="1579322" cy="671293"/>
            </a:xfrm>
            <a:custGeom>
              <a:avLst/>
              <a:gdLst/>
              <a:ahLst/>
              <a:cxnLst/>
              <a:rect l="l" t="t" r="r" b="b"/>
              <a:pathLst>
                <a:path w="35998" h="15301" extrusionOk="0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4276884" y="3249069"/>
              <a:ext cx="173735" cy="205016"/>
            </a:xfrm>
            <a:custGeom>
              <a:avLst/>
              <a:gdLst/>
              <a:ahLst/>
              <a:cxnLst/>
              <a:rect l="l" t="t" r="r" b="b"/>
              <a:pathLst>
                <a:path w="3960" h="4673" extrusionOk="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4295266" y="3434077"/>
              <a:ext cx="328517" cy="168383"/>
            </a:xfrm>
            <a:custGeom>
              <a:avLst/>
              <a:gdLst/>
              <a:ahLst/>
              <a:cxnLst/>
              <a:rect l="l" t="t" r="r" b="b"/>
              <a:pathLst>
                <a:path w="7488" h="3838" extrusionOk="0">
                  <a:moveTo>
                    <a:pt x="3742" y="1"/>
                  </a:moveTo>
                  <a:lnTo>
                    <a:pt x="1" y="844"/>
                  </a:lnTo>
                  <a:cubicBezTo>
                    <a:pt x="385" y="2558"/>
                    <a:pt x="1915" y="3838"/>
                    <a:pt x="3742" y="3838"/>
                  </a:cubicBezTo>
                  <a:cubicBezTo>
                    <a:pt x="5577" y="3838"/>
                    <a:pt x="7112" y="2544"/>
                    <a:pt x="7487" y="818"/>
                  </a:cubicBezTo>
                  <a:lnTo>
                    <a:pt x="3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4746970" y="3289739"/>
              <a:ext cx="833709" cy="37774"/>
            </a:xfrm>
            <a:custGeom>
              <a:avLst/>
              <a:gdLst/>
              <a:ahLst/>
              <a:cxnLst/>
              <a:rect l="l" t="t" r="r" b="b"/>
              <a:pathLst>
                <a:path w="19003" h="861" extrusionOk="0">
                  <a:moveTo>
                    <a:pt x="1" y="1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4746970" y="3389240"/>
              <a:ext cx="833709" cy="37818"/>
            </a:xfrm>
            <a:custGeom>
              <a:avLst/>
              <a:gdLst/>
              <a:ahLst/>
              <a:cxnLst/>
              <a:rect l="l" t="t" r="r" b="b"/>
              <a:pathLst>
                <a:path w="19003" h="862" extrusionOk="0">
                  <a:moveTo>
                    <a:pt x="1" y="0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4746970" y="3499489"/>
              <a:ext cx="450658" cy="37818"/>
            </a:xfrm>
            <a:custGeom>
              <a:avLst/>
              <a:gdLst/>
              <a:ahLst/>
              <a:cxnLst/>
              <a:rect l="l" t="t" r="r" b="b"/>
              <a:pathLst>
                <a:path w="10272" h="862" extrusionOk="0">
                  <a:moveTo>
                    <a:pt x="1" y="0"/>
                  </a:moveTo>
                  <a:lnTo>
                    <a:pt x="1" y="861"/>
                  </a:lnTo>
                  <a:lnTo>
                    <a:pt x="10271" y="861"/>
                  </a:lnTo>
                  <a:lnTo>
                    <a:pt x="102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 flipH="1">
              <a:off x="4468091" y="3249069"/>
              <a:ext cx="173735" cy="205016"/>
            </a:xfrm>
            <a:custGeom>
              <a:avLst/>
              <a:gdLst/>
              <a:ahLst/>
              <a:cxnLst/>
              <a:rect l="l" t="t" r="r" b="b"/>
              <a:pathLst>
                <a:path w="3960" h="4673" extrusionOk="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26"/>
          <p:cNvSpPr/>
          <p:nvPr/>
        </p:nvSpPr>
        <p:spPr>
          <a:xfrm rot="-5400000">
            <a:off x="7613101" y="1949490"/>
            <a:ext cx="69000" cy="15900"/>
          </a:xfrm>
          <a:prstGeom prst="rtTriangl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6155969" y="2144767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"/>
          <p:cNvSpPr/>
          <p:nvPr/>
        </p:nvSpPr>
        <p:spPr>
          <a:xfrm>
            <a:off x="7984244" y="1837492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4684649" y="3116415"/>
            <a:ext cx="1579326" cy="644066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6313744" y="1194513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54095" y="3001497"/>
            <a:ext cx="3705869" cy="1550625"/>
          </a:xfrm>
        </p:spPr>
        <p:txBody>
          <a:bodyPr/>
          <a:lstStyle/>
          <a:p>
            <a:r>
              <a:rPr lang="en-US" sz="1400" b="1" dirty="0"/>
              <a:t>Prepared by:</a:t>
            </a:r>
          </a:p>
          <a:p>
            <a:pPr marL="0" fontAlgn="ctr"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Malak Mansour Ibrahim    </a:t>
            </a:r>
            <a:r>
              <a:rPr lang="en-US" sz="1400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20230418</a:t>
            </a:r>
            <a:endParaRPr lang="ar-EG" sz="1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fontAlgn="ctr"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Ganna Mohamed Ibrahim   20221044</a:t>
            </a:r>
            <a:endParaRPr lang="ar-EG" sz="1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fontAlgn="ctr"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Hassan Abdullah Hassan  20230123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Rahma</a:t>
            </a: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Salah </a:t>
            </a:r>
            <a:r>
              <a:rPr lang="en-US" sz="14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Eldiin</a:t>
            </a: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       </a:t>
            </a: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20230137</a:t>
            </a:r>
            <a:endParaRPr lang="en-US" sz="1400" dirty="0"/>
          </a:p>
          <a:p>
            <a:pPr marL="0" fontAlgn="ctr"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Mostafa Mohamed Amer  20201168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9"/>
          <p:cNvSpPr txBox="1">
            <a:spLocks noGrp="1"/>
          </p:cNvSpPr>
          <p:nvPr>
            <p:ph type="ctrTitle"/>
          </p:nvPr>
        </p:nvSpPr>
        <p:spPr>
          <a:xfrm>
            <a:off x="1645920" y="292607"/>
            <a:ext cx="6169748" cy="5260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/>
              <a:t>Birth-death Model and the coefficient</a:t>
            </a:r>
            <a:endParaRPr sz="2800" dirty="0"/>
          </a:p>
        </p:txBody>
      </p:sp>
      <p:sp>
        <p:nvSpPr>
          <p:cNvPr id="526" name="Google Shape;526;p29"/>
          <p:cNvSpPr/>
          <p:nvPr/>
        </p:nvSpPr>
        <p:spPr>
          <a:xfrm flipH="1">
            <a:off x="7815668" y="4906241"/>
            <a:ext cx="6829" cy="3196"/>
          </a:xfrm>
          <a:custGeom>
            <a:avLst/>
            <a:gdLst/>
            <a:ahLst/>
            <a:cxnLst/>
            <a:rect l="l" t="t" r="r" b="b"/>
            <a:pathLst>
              <a:path w="141" h="66" extrusionOk="0">
                <a:moveTo>
                  <a:pt x="123" y="1"/>
                </a:moveTo>
                <a:cubicBezTo>
                  <a:pt x="112" y="22"/>
                  <a:pt x="80" y="40"/>
                  <a:pt x="29" y="58"/>
                </a:cubicBezTo>
                <a:cubicBezTo>
                  <a:pt x="22" y="61"/>
                  <a:pt x="11" y="61"/>
                  <a:pt x="1" y="65"/>
                </a:cubicBezTo>
                <a:cubicBezTo>
                  <a:pt x="76" y="51"/>
                  <a:pt x="119" y="36"/>
                  <a:pt x="130" y="22"/>
                </a:cubicBezTo>
                <a:cubicBezTo>
                  <a:pt x="137" y="15"/>
                  <a:pt x="141" y="8"/>
                  <a:pt x="141" y="1"/>
                </a:cubicBezTo>
                <a:close/>
              </a:path>
            </a:pathLst>
          </a:custGeom>
          <a:solidFill>
            <a:srgbClr val="7D8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7" name="Google Shape;527;p29"/>
          <p:cNvGrpSpPr/>
          <p:nvPr/>
        </p:nvGrpSpPr>
        <p:grpSpPr>
          <a:xfrm>
            <a:off x="2570229" y="4834212"/>
            <a:ext cx="4600713" cy="150450"/>
            <a:chOff x="0" y="4397412"/>
            <a:chExt cx="4600713" cy="150450"/>
          </a:xfrm>
        </p:grpSpPr>
        <p:sp>
          <p:nvSpPr>
            <p:cNvPr id="528" name="Google Shape;528;p29"/>
            <p:cNvSpPr/>
            <p:nvPr/>
          </p:nvSpPr>
          <p:spPr>
            <a:xfrm>
              <a:off x="0" y="4397412"/>
              <a:ext cx="4600713" cy="2416"/>
            </a:xfrm>
            <a:custGeom>
              <a:avLst/>
              <a:gdLst/>
              <a:ahLst/>
              <a:cxnLst/>
              <a:rect l="l" t="t" r="r" b="b"/>
              <a:pathLst>
                <a:path w="131402" h="69" extrusionOk="0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755786" y="4545586"/>
              <a:ext cx="305519" cy="2276"/>
            </a:xfrm>
            <a:custGeom>
              <a:avLst/>
              <a:gdLst/>
              <a:ahLst/>
              <a:cxnLst/>
              <a:rect l="l" t="t" r="r" b="b"/>
              <a:pathLst>
                <a:path w="8726" h="65" extrusionOk="0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1619552" y="4536412"/>
              <a:ext cx="497808" cy="2276"/>
            </a:xfrm>
            <a:custGeom>
              <a:avLst/>
              <a:gdLst/>
              <a:ahLst/>
              <a:cxnLst/>
              <a:rect l="l" t="t" r="r" b="b"/>
              <a:pathLst>
                <a:path w="14218" h="65" extrusionOk="0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1070481" y="4460119"/>
              <a:ext cx="175833" cy="2311"/>
            </a:xfrm>
            <a:custGeom>
              <a:avLst/>
              <a:gdLst/>
              <a:ahLst/>
              <a:cxnLst/>
              <a:rect l="l" t="t" r="r" b="b"/>
              <a:pathLst>
                <a:path w="5022" h="66" extrusionOk="0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2732853" y="4514424"/>
              <a:ext cx="418259" cy="2276"/>
            </a:xfrm>
            <a:custGeom>
              <a:avLst/>
              <a:gdLst/>
              <a:ahLst/>
              <a:cxnLst/>
              <a:rect l="l" t="t" r="r" b="b"/>
              <a:pathLst>
                <a:path w="11946" h="65" extrusionOk="0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30" y="743610"/>
            <a:ext cx="8650287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0" name="Google Shape;422;p27"/>
          <p:cNvSpPr txBox="1">
            <a:spLocks noGrp="1"/>
          </p:cNvSpPr>
          <p:nvPr>
            <p:ph type="subTitle" idx="1"/>
          </p:nvPr>
        </p:nvSpPr>
        <p:spPr>
          <a:xfrm flipH="1">
            <a:off x="704204" y="1202266"/>
            <a:ext cx="7847264" cy="2970327"/>
          </a:xfrm>
          <a:prstGeom prst="rect">
            <a:avLst/>
          </a:prstGeom>
        </p:spPr>
        <p:txBody>
          <a:bodyPr spcFirstLastPara="1" wrap="square" lIns="91425" tIns="234000" rIns="91425" bIns="0" anchor="ctr" anchorCtr="0">
            <a:noAutofit/>
          </a:bodyPr>
          <a:lstStyle/>
          <a:p>
            <a:pPr marL="323850" indent="-171450" algn="l">
              <a:buFont typeface="Arial" pitchFamily="34" charset="0"/>
              <a:buChar char="•"/>
            </a:pPr>
            <a:r>
              <a:rPr lang="en-US" sz="1800" dirty="0"/>
              <a:t>This is known as the </a:t>
            </a:r>
            <a:r>
              <a:rPr lang="en-US" sz="1800" b="1" dirty="0"/>
              <a:t>finite-source model</a:t>
            </a:r>
            <a:r>
              <a:rPr lang="en-US" sz="1800" dirty="0"/>
              <a:t> or </a:t>
            </a:r>
            <a:r>
              <a:rPr lang="en-US" sz="1800" b="1" dirty="0"/>
              <a:t>machine repair model</a:t>
            </a:r>
            <a:r>
              <a:rPr lang="en-US" sz="1800" dirty="0"/>
              <a:t>.</a:t>
            </a:r>
          </a:p>
          <a:p>
            <a:pPr marL="323850" indent="-171450" algn="l">
              <a:buFont typeface="Arial" pitchFamily="34" charset="0"/>
              <a:buChar char="•"/>
            </a:pPr>
            <a:r>
              <a:rPr lang="en-US" sz="1800" dirty="0"/>
              <a:t>In traditional queuing models, customer population is assumed </a:t>
            </a:r>
            <a:r>
              <a:rPr lang="en-US" sz="1800" b="1" dirty="0"/>
              <a:t>infinite But</a:t>
            </a:r>
            <a:r>
              <a:rPr lang="en-US" sz="1800" dirty="0"/>
              <a:t> in this model, the system contains a </a:t>
            </a:r>
            <a:r>
              <a:rPr lang="en-US" sz="1800" b="1" dirty="0"/>
              <a:t>finite number of users</a:t>
            </a:r>
            <a:r>
              <a:rPr lang="en-US" sz="1800" dirty="0"/>
              <a:t> denoted by </a:t>
            </a:r>
            <a:r>
              <a:rPr lang="en-US" sz="1800" b="1" dirty="0"/>
              <a:t>M</a:t>
            </a:r>
            <a:r>
              <a:rPr lang="en-US" sz="1800" dirty="0"/>
              <a:t>.</a:t>
            </a:r>
          </a:p>
          <a:p>
            <a:pPr marL="323850" indent="-171450" algn="l">
              <a:buFont typeface="Arial" pitchFamily="34" charset="0"/>
              <a:buChar char="•"/>
            </a:pPr>
            <a:r>
              <a:rPr lang="en-US" sz="1800" dirty="0"/>
              <a:t>A user is either:</a:t>
            </a:r>
          </a:p>
          <a:p>
            <a:pPr marL="152400" indent="0" algn="l">
              <a:buNone/>
            </a:pPr>
            <a:r>
              <a:rPr lang="en-US" sz="1800" dirty="0"/>
              <a:t>                   </a:t>
            </a:r>
            <a:r>
              <a:rPr lang="en-US" sz="1800" b="1" dirty="0"/>
              <a:t>Inside</a:t>
            </a:r>
            <a:r>
              <a:rPr lang="en-US" sz="1800" dirty="0"/>
              <a:t> the system (queue or server)</a:t>
            </a:r>
          </a:p>
          <a:p>
            <a:pPr marL="152400" indent="0" algn="l">
              <a:buNone/>
            </a:pPr>
            <a:r>
              <a:rPr lang="en-US" sz="1800" dirty="0"/>
              <a:t>                   </a:t>
            </a:r>
            <a:r>
              <a:rPr lang="en-US" sz="1800" b="1" dirty="0"/>
              <a:t>Outside</a:t>
            </a:r>
            <a:r>
              <a:rPr lang="en-US" sz="1800" dirty="0"/>
              <a:t> the system and in the process of </a:t>
            </a:r>
            <a:r>
              <a:rPr lang="en-US" sz="1800" b="1" dirty="0"/>
              <a:t>arriving</a:t>
            </a:r>
            <a:r>
              <a:rPr lang="en-US" sz="1800" dirty="0"/>
              <a:t>.</a:t>
            </a:r>
          </a:p>
          <a:p>
            <a:pPr marL="323850" indent="-171450" algn="l">
              <a:buFont typeface="Arial" pitchFamily="34" charset="0"/>
              <a:buChar char="•"/>
            </a:pPr>
            <a:r>
              <a:rPr lang="en-US" sz="1800" dirty="0"/>
              <a:t>The </a:t>
            </a:r>
            <a:r>
              <a:rPr lang="en-US" sz="1800" b="1" dirty="0"/>
              <a:t>arrival process</a:t>
            </a:r>
            <a:r>
              <a:rPr lang="en-US" sz="1800" dirty="0"/>
              <a:t> is no longer a traditional Poisson process but rather have:</a:t>
            </a:r>
          </a:p>
          <a:p>
            <a:pPr marL="152400" indent="0" algn="l">
              <a:buNone/>
            </a:pPr>
            <a:r>
              <a:rPr lang="en-US" sz="1800" dirty="0"/>
              <a:t>                    </a:t>
            </a:r>
            <a:r>
              <a:rPr lang="en-US" sz="1800" b="1" dirty="0"/>
              <a:t>Exponential interarrival times</a:t>
            </a:r>
            <a:r>
              <a:rPr lang="en-US" sz="1800" dirty="0"/>
              <a:t> </a:t>
            </a:r>
            <a:r>
              <a:rPr lang="en-US" sz="1800" b="1" dirty="0"/>
              <a:t>mean </a:t>
            </a:r>
            <a:r>
              <a:rPr lang="en-US" sz="1600" dirty="0"/>
              <a:t>(M − n)</a:t>
            </a:r>
            <a:r>
              <a:rPr lang="el-GR" sz="1600" dirty="0"/>
              <a:t>λ</a:t>
            </a:r>
            <a:endParaRPr lang="en-US" sz="1600" dirty="0"/>
          </a:p>
          <a:p>
            <a:pPr marL="152400" indent="0" algn="l">
              <a:buNone/>
            </a:pPr>
            <a:r>
              <a:rPr lang="en-US" sz="1800" b="1" dirty="0"/>
              <a:t>                    Exponential service times mean </a:t>
            </a:r>
            <a:r>
              <a:rPr lang="el-GR" sz="1800" dirty="0"/>
              <a:t>μ</a:t>
            </a:r>
            <a:endParaRPr lang="en-US" sz="1800" dirty="0"/>
          </a:p>
          <a:p>
            <a:pPr marL="323850" indent="-171450" algn="l">
              <a:buFont typeface="Arial" pitchFamily="34" charset="0"/>
              <a:buChar char="•"/>
            </a:pPr>
            <a:r>
              <a:rPr lang="en-US" sz="1800" dirty="0"/>
              <a:t>All users act independently.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 txBox="1">
            <a:spLocks noGrp="1"/>
          </p:cNvSpPr>
          <p:nvPr>
            <p:ph type="ctrTitle"/>
          </p:nvPr>
        </p:nvSpPr>
        <p:spPr>
          <a:xfrm>
            <a:off x="4002158" y="397665"/>
            <a:ext cx="4499088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Steady-State Probabilities (Pₖ ,P₀)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422;p27"/>
              <p:cNvSpPr txBox="1">
                <a:spLocks noGrp="1"/>
              </p:cNvSpPr>
              <p:nvPr>
                <p:ph type="subTitle" idx="1"/>
              </p:nvPr>
            </p:nvSpPr>
            <p:spPr>
              <a:xfrm flipH="1">
                <a:off x="695739" y="1030049"/>
                <a:ext cx="7602711" cy="3608211"/>
              </a:xfrm>
              <a:prstGeom prst="rect">
                <a:avLst/>
              </a:prstGeom>
            </p:spPr>
            <p:txBody>
              <a:bodyPr spcFirstLastPara="1" wrap="square" lIns="91425" tIns="234000" rIns="91425" bIns="0" anchor="ctr" anchorCtr="0">
                <a:noAutofit/>
              </a:bodyPr>
              <a:lstStyle/>
              <a:p>
                <a:pPr marL="0" lvl="0" indent="0">
                  <a:buNone/>
                </a:pPr>
                <a:r>
                  <a:rPr lang="en-US" sz="1800" b="1" dirty="0"/>
                  <a:t>For</a:t>
                </a:r>
                <a:r>
                  <a:rPr lang="en-US" sz="1800" dirty="0"/>
                  <a:t> 0≤</a:t>
                </a:r>
                <a:r>
                  <a:rPr lang="en" sz="1800" dirty="0"/>
                  <a:t>𝑘≤𝑀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" sz="1800" dirty="0"/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" sz="1800" dirty="0"/>
                            <m:t>𝑘</m:t>
                          </m:r>
                        </m:sub>
                        <m:sup/>
                      </m:sSubSup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" sz="1800" dirty="0"/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/>
                            </a:rPr>
                            <m:t>0</m:t>
                          </m:r>
                        </m:sub>
                        <m:sup/>
                      </m:sSubSup>
                      <m:r>
                        <m:rPr>
                          <m:nor/>
                        </m:rPr>
                        <a:rPr lang="en" sz="1800" dirty="0" smtClean="0"/>
                        <m:t>⋅</m:t>
                      </m:r>
                      <m:nary>
                        <m:naryPr>
                          <m:chr m:val="∏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" sz="1800" dirty="0"/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800" i="1">
                                      <a:latin typeface="Cambria Math"/>
                                    </a:rPr>
                                    <m:t>(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800" b="0" i="0" dirty="0" smtClean="0"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  <m:sup/>
                                      </m:sSubSup>
                                      <m:r>
                                        <a:rPr lang="en-US" sz="1800" b="0" i="1" dirty="0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800" b="0" i="1" dirty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sz="18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800" dirty="0"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  <m:r>
                                            <a:rPr lang="en-US" sz="1800" b="0" i="1" dirty="0" smtClean="0">
                                              <a:latin typeface="Cambria Math"/>
                                            </a:rPr>
                                            <m:t> </m:t>
                                          </m:r>
                                        </m:sub>
                                        <m:sup/>
                                      </m:sSubSup>
                                    </m:den>
                                  </m:f>
                                </m:e>
                              </m:func>
                              <m:r>
                                <a:rPr lang="en-US" sz="1800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 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marL="0" lvl="0" indent="0">
                  <a:buNone/>
                </a:pPr>
                <a:r>
                  <a:rPr lang="en-US" sz="1800" dirty="0"/>
                  <a:t> </a:t>
                </a: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" sz="1800" dirty="0"/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" sz="1800" dirty="0"/>
                          <m:t>𝑘</m:t>
                        </m:r>
                      </m:sub>
                      <m:sup/>
                    </m:sSubSup>
                    <m:r>
                      <a:rPr lang="en-US" sz="1800" b="0" i="0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" sz="1800" dirty="0"/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800" b="0" i="0" dirty="0" smtClean="0">
                            <a:latin typeface="Cambria Math"/>
                          </a:rPr>
                          <m:t>0</m:t>
                        </m:r>
                      </m:sub>
                      <m:sup/>
                    </m:sSubSup>
                  </m:oMath>
                </a14:m>
                <a:r>
                  <a:rPr lang="en" sz="1800" dirty="0"/>
                  <a:t>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1800" i="1">
                                <a:latin typeface="Cambria Math"/>
                              </a:rPr>
                              <m:t>(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" sz="1800" dirty="0"/>
                                  <m:t>𝜆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" sz="1800" dirty="0"/>
                                  <m:t>𝜇</m:t>
                                </m:r>
                              </m:den>
                            </m:f>
                          </m:e>
                        </m:func>
                        <m:r>
                          <a:rPr lang="en-US" sz="180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" sz="1800" dirty="0"/>
                          <m:t>𝑘</m:t>
                        </m:r>
                      </m:sup>
                    </m:sSup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n" sz="1800" dirty="0"/>
                          <m:t>⋅</m:t>
                        </m:r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" sz="1800" dirty="0"/>
                              <m:t>𝑀</m:t>
                            </m:r>
                            <m:r>
                              <m:rPr>
                                <m:nor/>
                              </m:rPr>
                              <a:rPr lang="en" sz="1800" dirty="0"/>
                              <m:t>!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" sz="180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" sz="1800" dirty="0"/>
                              <m:t>𝑀</m:t>
                            </m:r>
                            <m:r>
                              <m:rPr>
                                <m:nor/>
                              </m:rPr>
                              <a:rPr lang="en" sz="18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" sz="1800" dirty="0"/>
                              <m:t>𝑘</m:t>
                            </m:r>
                            <m:r>
                              <m:rPr>
                                <m:nor/>
                              </m:rPr>
                              <a:rPr lang="en" sz="1800" dirty="0"/>
                              <m:t>)!</m:t>
                            </m:r>
                          </m:den>
                        </m:f>
                      </m:e>
                    </m:func>
                  </m:oMath>
                </a14:m>
                <a:endParaRPr lang="en-US" sz="1800" dirty="0"/>
              </a:p>
              <a:p>
                <a:pPr marL="0" lvl="0" indent="0">
                  <a:buNone/>
                </a:pPr>
                <a:r>
                  <a:rPr lang="en-US" sz="1800" b="1" dirty="0"/>
                  <a:t>Where:</a:t>
                </a:r>
              </a:p>
              <a:p>
                <a:pPr marL="0" lvl="0" indent="0" algn="l">
                  <a:buNone/>
                </a:pPr>
                <a:r>
                  <a:rPr lang="en" sz="1800" dirty="0"/>
                  <a:t>𝑀</a:t>
                </a:r>
                <a:r>
                  <a:rPr lang="en-US" sz="1800" dirty="0"/>
                  <a:t>: Total population size</a:t>
                </a:r>
              </a:p>
              <a:p>
                <a:pPr marL="0" lvl="0" indent="0" algn="l">
                  <a:buNone/>
                </a:pPr>
                <a:r>
                  <a:rPr lang="en" sz="1800" dirty="0"/>
                  <a:t>𝜆</a:t>
                </a:r>
                <a:r>
                  <a:rPr lang="el-GR" sz="1800" dirty="0"/>
                  <a:t>: </a:t>
                </a:r>
                <a:r>
                  <a:rPr lang="en-US" sz="1800" dirty="0"/>
                  <a:t>Arrival rate per customer</a:t>
                </a:r>
              </a:p>
              <a:p>
                <a:pPr marL="0" lvl="0" indent="0" algn="l">
                  <a:buNone/>
                </a:pPr>
                <a:r>
                  <a:rPr lang="en" sz="1800" dirty="0"/>
                  <a:t>𝜇</a:t>
                </a:r>
                <a:r>
                  <a:rPr lang="el-GR" sz="1800" dirty="0"/>
                  <a:t>: </a:t>
                </a:r>
                <a:r>
                  <a:rPr lang="en-US" sz="1800" dirty="0"/>
                  <a:t>Service rate</a:t>
                </a:r>
              </a:p>
              <a:p>
                <a:pPr marL="0" lvl="0" indent="0" algn="l">
                  <a:buNone/>
                </a:pPr>
                <a:endParaRPr lang="en-US" sz="1800" dirty="0"/>
              </a:p>
              <a:p>
                <a:pPr marL="0" lvl="0" indent="0">
                  <a:buNone/>
                </a:pPr>
                <a:r>
                  <a:rPr lang="en-US" sz="1800" b="1" dirty="0"/>
                  <a:t>For</a:t>
                </a:r>
                <a:r>
                  <a:rPr lang="en-US" sz="1800" dirty="0"/>
                  <a:t> </a:t>
                </a:r>
                <a:r>
                  <a:rPr lang="en" sz="1800" dirty="0"/>
                  <a:t>𝑘&gt;𝑀</a:t>
                </a:r>
                <a:r>
                  <a:rPr lang="en-US" sz="1800" dirty="0"/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" sz="1800" dirty="0"/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" sz="1800" dirty="0"/>
                          <m:t>𝑘</m:t>
                        </m:r>
                      </m:sub>
                      <m:sup/>
                    </m:sSubSup>
                    <m:r>
                      <a:rPr lang="en" sz="18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" sz="1800" dirty="0"/>
                  <a:t>=0</a:t>
                </a:r>
                <a:endParaRPr lang="en-US" sz="1800" dirty="0"/>
              </a:p>
              <a:p>
                <a:pPr marL="0" lvl="0" indent="0">
                  <a:buNone/>
                </a:pPr>
                <a:endParaRPr sz="1800" dirty="0"/>
              </a:p>
            </p:txBody>
          </p:sp>
        </mc:Choice>
        <mc:Fallback xmlns="">
          <p:sp>
            <p:nvSpPr>
              <p:cNvPr id="7" name="Google Shape;422;p2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 flipH="1">
                <a:off x="695739" y="1030049"/>
                <a:ext cx="7602711" cy="3608211"/>
              </a:xfrm>
              <a:prstGeom prst="rect">
                <a:avLst/>
              </a:prstGeom>
              <a:blipFill rotWithShape="1">
                <a:blip r:embed="rId3"/>
                <a:stretch>
                  <a:fillRect l="-642" t="-2365" b="-10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84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 txBox="1">
            <a:spLocks noGrp="1"/>
          </p:cNvSpPr>
          <p:nvPr>
            <p:ph type="ctrTitle"/>
          </p:nvPr>
        </p:nvSpPr>
        <p:spPr>
          <a:xfrm>
            <a:off x="4002158" y="397665"/>
            <a:ext cx="4499088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Steady-State Probabilities (Pₖ ,P₀)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422;p27"/>
              <p:cNvSpPr txBox="1">
                <a:spLocks noGrp="1"/>
              </p:cNvSpPr>
              <p:nvPr>
                <p:ph type="subTitle" idx="1"/>
              </p:nvPr>
            </p:nvSpPr>
            <p:spPr>
              <a:xfrm flipH="1">
                <a:off x="695739" y="1030049"/>
                <a:ext cx="7602711" cy="3608211"/>
              </a:xfrm>
              <a:prstGeom prst="rect">
                <a:avLst/>
              </a:prstGeom>
            </p:spPr>
            <p:txBody>
              <a:bodyPr spcFirstLastPara="1" wrap="square" lIns="91425" tIns="234000" rIns="91425" bIns="0" anchor="ctr" anchorCtr="0">
                <a:noAutofit/>
              </a:bodyPr>
              <a:lstStyle/>
              <a:p>
                <a:pPr marL="0" lvl="0" indent="0">
                  <a:buNone/>
                </a:pPr>
                <a:r>
                  <a:rPr lang="en-US" sz="1800" b="1" dirty="0"/>
                  <a:t>For</a:t>
                </a:r>
                <a:r>
                  <a:rPr lang="en-US" sz="1800" dirty="0"/>
                  <a:t> 0≤</a:t>
                </a:r>
                <a:r>
                  <a:rPr lang="en" sz="1800" dirty="0"/>
                  <a:t>𝑘≤𝑀</a:t>
                </a:r>
                <a:endParaRPr lang="en-US" sz="1800" dirty="0"/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" sz="1800" dirty="0"/>
                            <m:t>𝑃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/>
                            </a:rPr>
                            <m:t>0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 </m:t>
                          </m:r>
                        </m:sub>
                        <m:sup/>
                      </m:sSubSup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pt-BR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pt-BR" sz="1800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pt-BR" sz="1800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pt-BR" sz="18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" sz="1800" dirty="0"/>
                                    <m:t>𝑀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unc>
                                        <m:func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</m:fName>
                                        <m:e>
                                          <m:f>
                                            <m:f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" sz="1800" dirty="0"/>
                                                <m:t>𝜆</m:t>
                                              </m:r>
                                            </m:num>
                                            <m:den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" sz="1800" dirty="0"/>
                                                <m:t>𝜇</m:t>
                                              </m:r>
                                            </m:den>
                                          </m:f>
                                        </m:e>
                                      </m:func>
                                      <m:r>
                                        <a:rPr lang="en-US" sz="180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" sz="1800" dirty="0"/>
                                        <m:t>𝑘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nor/>
                                        </m:rPr>
                                        <a:rPr lang="en" sz="1800" dirty="0"/>
                                        <m:t>⋅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𝑀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!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𝑀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−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𝑘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800" dirty="0"/>
                                            <m:t>)!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800" b="0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lvl="0" indent="0">
                  <a:buNone/>
                </a:pPr>
                <a:r>
                  <a:rPr lang="en-US" sz="1800" b="1" dirty="0"/>
                  <a:t>Where:</a:t>
                </a:r>
              </a:p>
              <a:p>
                <a:pPr marL="0" lvl="0" indent="0" algn="l">
                  <a:buNone/>
                </a:pPr>
                <a:r>
                  <a:rPr lang="en" sz="1800" dirty="0"/>
                  <a:t>𝑀</a:t>
                </a:r>
                <a:r>
                  <a:rPr lang="en-US" sz="1800" dirty="0"/>
                  <a:t>: Total population size</a:t>
                </a:r>
              </a:p>
              <a:p>
                <a:pPr marL="0" lvl="0" indent="0" algn="l">
                  <a:buNone/>
                </a:pPr>
                <a:r>
                  <a:rPr lang="en" sz="1800" dirty="0"/>
                  <a:t>𝜆</a:t>
                </a:r>
                <a:r>
                  <a:rPr lang="el-GR" sz="1800" dirty="0"/>
                  <a:t>: </a:t>
                </a:r>
                <a:r>
                  <a:rPr lang="en-US" sz="1800" dirty="0"/>
                  <a:t>Arrival rate per customer</a:t>
                </a:r>
              </a:p>
              <a:p>
                <a:pPr marL="0" lvl="0" indent="0" algn="l">
                  <a:buNone/>
                </a:pPr>
                <a:r>
                  <a:rPr lang="en" sz="1800" dirty="0"/>
                  <a:t>𝜇</a:t>
                </a:r>
                <a:r>
                  <a:rPr lang="el-GR" sz="1800" dirty="0"/>
                  <a:t>: </a:t>
                </a:r>
                <a:r>
                  <a:rPr lang="en-US" sz="1800" dirty="0"/>
                  <a:t>service rate</a:t>
                </a:r>
              </a:p>
              <a:p>
                <a:pPr marL="0" lvl="0" indent="0" algn="l">
                  <a:buNone/>
                </a:pPr>
                <a:endParaRPr lang="en-US" sz="1800" dirty="0"/>
              </a:p>
              <a:p>
                <a:pPr marL="0" lvl="0" indent="0">
                  <a:buNone/>
                </a:pPr>
                <a:endParaRPr sz="1800" dirty="0"/>
              </a:p>
            </p:txBody>
          </p:sp>
        </mc:Choice>
        <mc:Fallback xmlns="">
          <p:sp>
            <p:nvSpPr>
              <p:cNvPr id="7" name="Google Shape;422;p2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 flipH="1">
                <a:off x="695739" y="1030049"/>
                <a:ext cx="7602711" cy="3608211"/>
              </a:xfrm>
              <a:prstGeom prst="rect">
                <a:avLst/>
              </a:prstGeom>
              <a:blipFill rotWithShape="1">
                <a:blip r:embed="rId3"/>
                <a:stretch>
                  <a:fillRect l="-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35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>
            <a:alpha val="0"/>
          </a:schemeClr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 txBox="1">
            <a:spLocks noGrp="1"/>
          </p:cNvSpPr>
          <p:nvPr>
            <p:ph type="ctrTitle"/>
          </p:nvPr>
        </p:nvSpPr>
        <p:spPr>
          <a:xfrm>
            <a:off x="3392558" y="397665"/>
            <a:ext cx="5108688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Birth-death PROCESS For single-server finite</a:t>
            </a:r>
            <a:endParaRPr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9D85C4E-67AB-46B1-8C4C-F08F4CEED6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084" y="878865"/>
                <a:ext cx="8407831" cy="275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000"/>
                  <a:buFont typeface="Josefin Slab"/>
                  <a:buAutoNum type="arabicPeriod"/>
                  <a:defRPr sz="1100" b="0" i="0" u="none" strike="noStrike" cap="none">
                    <a:solidFill>
                      <a:schemeClr val="accent3"/>
                    </a:solidFill>
                    <a:latin typeface="Anaheim"/>
                    <a:ea typeface="Anaheim"/>
                    <a:cs typeface="Anaheim"/>
                    <a:sym typeface="Anaheim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alphaL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romanL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arabi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alphaL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romanL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arabi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alphaL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400"/>
                  <a:buFont typeface="Josefin Slab SemiBold"/>
                  <a:buAutoNum type="romanLcPeriod"/>
                  <a:defRPr sz="1400" b="0" i="0" u="none" strike="noStrike" cap="none">
                    <a:solidFill>
                      <a:schemeClr val="accent3"/>
                    </a:solidFill>
                    <a:latin typeface="Josefin Slab"/>
                    <a:ea typeface="Josefin Slab"/>
                    <a:cs typeface="Josefin Slab"/>
                    <a:sym typeface="Josefin Slab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+mj-lt"/>
                  </a:rPr>
                  <a:t>Markov process where transitions occur between neighboring states.</a:t>
                </a:r>
                <a:endParaRPr lang="ar-EG" sz="18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800" dirty="0">
                  <a:latin typeface="+mj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+mj-lt"/>
                  </a:rPr>
                  <a:t>Used to model population dynamics with birth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>
                    <a:latin typeface="+mj-lt"/>
                  </a:rPr>
                  <a:t> and death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>
                  <a:latin typeface="+mj-lt"/>
                </a:endParaRPr>
              </a:p>
              <a:p>
                <a:pPr marL="0" indent="0">
                  <a:buFont typeface="Josefin Slab"/>
                  <a:buNone/>
                </a:pPr>
                <a:endParaRPr lang="en-US" sz="1800" dirty="0">
                  <a:latin typeface="+mj-lt"/>
                </a:endParaRPr>
              </a:p>
              <a:p>
                <a:endParaRPr lang="en-US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9D85C4E-67AB-46B1-8C4C-F08F4CEED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84" y="878865"/>
                <a:ext cx="8407831" cy="2756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3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 txBox="1">
            <a:spLocks noGrp="1"/>
          </p:cNvSpPr>
          <p:nvPr>
            <p:ph type="ctrTitle"/>
          </p:nvPr>
        </p:nvSpPr>
        <p:spPr>
          <a:xfrm>
            <a:off x="3392558" y="397665"/>
            <a:ext cx="5108688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Birth-death DIAGRAM For single-server finite</a:t>
            </a:r>
            <a:endParaRPr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4" y="3057525"/>
            <a:ext cx="8583613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422;p27"/>
              <p:cNvSpPr txBox="1">
                <a:spLocks noGrp="1"/>
              </p:cNvSpPr>
              <p:nvPr>
                <p:ph type="subTitle" idx="1"/>
              </p:nvPr>
            </p:nvSpPr>
            <p:spPr>
              <a:xfrm flipH="1">
                <a:off x="751667" y="1263111"/>
                <a:ext cx="7600449" cy="1387241"/>
              </a:xfrm>
              <a:prstGeom prst="rect">
                <a:avLst/>
              </a:prstGeom>
            </p:spPr>
            <p:txBody>
              <a:bodyPr spcFirstLastPara="1" wrap="square" lIns="91425" tIns="234000" rIns="91425" bIns="0" anchor="ctr" anchorCtr="0">
                <a:noAutofit/>
              </a:bodyPr>
              <a:lstStyle/>
              <a:p>
                <a:pPr marL="152400" indent="0">
                  <a:buNone/>
                </a:pPr>
                <a:endParaRPr lang="en-US" sz="1600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sz="1800" dirty="0"/>
                  <a:t>From state</a:t>
                </a:r>
                <a:r>
                  <a:rPr lang="en-US" sz="1800" b="1" dirty="0"/>
                  <a:t> k </a:t>
                </a:r>
                <a:r>
                  <a:rPr lang="en-US" sz="1800" dirty="0"/>
                  <a:t>to</a:t>
                </a:r>
                <a:r>
                  <a:rPr lang="en-US" sz="1800" b="1" dirty="0"/>
                  <a:t> k+1: birth </a:t>
                </a:r>
                <a:r>
                  <a:rPr lang="en-US" sz="1800" dirty="0"/>
                  <a:t>rate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" sz="1400" b="1" dirty="0"/>
                          <m:t>𝜆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b="1" dirty="0"/>
                          <m:t>k</m:t>
                        </m:r>
                      </m:sub>
                      <m:sup/>
                    </m:sSubSup>
                    <m:r>
                      <a:rPr lang="en-US" sz="1400" b="1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1400"/>
                      <m:t>Customer</m:t>
                    </m:r>
                    <m:r>
                      <m:rPr>
                        <m:nor/>
                      </m:rPr>
                      <a:rPr lang="en-US" sz="1400"/>
                      <m:t> </m:t>
                    </m:r>
                    <m:r>
                      <m:rPr>
                        <m:nor/>
                      </m:rPr>
                      <a:rPr lang="en-US" sz="1400"/>
                      <m:t>arrival</m:t>
                    </m:r>
                    <m:r>
                      <m:rPr>
                        <m:nor/>
                      </m:rPr>
                      <a:rPr lang="en-US" sz="1400"/>
                      <m:t>, </m:t>
                    </m:r>
                    <m:r>
                      <m:rPr>
                        <m:nor/>
                      </m:rPr>
                      <a:rPr lang="en-US" sz="1400"/>
                      <m:t>moving</m:t>
                    </m:r>
                    <m:r>
                      <m:rPr>
                        <m:nor/>
                      </m:rPr>
                      <a:rPr lang="en-US" sz="1400"/>
                      <m:t> </m:t>
                    </m:r>
                    <m:r>
                      <m:rPr>
                        <m:nor/>
                      </m:rPr>
                      <a:rPr lang="en-US" sz="1400"/>
                      <m:t>to</m:t>
                    </m:r>
                    <m:r>
                      <m:rPr>
                        <m:nor/>
                      </m:rPr>
                      <a:rPr lang="en-US" sz="1400"/>
                      <m:t> </m:t>
                    </m:r>
                    <m:r>
                      <m:rPr>
                        <m:nor/>
                      </m:rPr>
                      <a:rPr lang="en-US" sz="1400"/>
                      <m:t>the</m:t>
                    </m:r>
                    <m:r>
                      <m:rPr>
                        <m:nor/>
                      </m:rPr>
                      <a:rPr lang="en-US" sz="1400"/>
                      <m:t> </m:t>
                    </m:r>
                    <m:r>
                      <m:rPr>
                        <m:nor/>
                      </m:rPr>
                      <a:rPr lang="en-US" sz="1400"/>
                      <m:t>next</m:t>
                    </m:r>
                    <m:r>
                      <m:rPr>
                        <m:nor/>
                      </m:rPr>
                      <a:rPr lang="en-US" sz="1400"/>
                      <m:t> </m:t>
                    </m:r>
                    <m:r>
                      <m:rPr>
                        <m:nor/>
                      </m:rPr>
                      <a:rPr lang="en-US" sz="1400"/>
                      <m:t>state</m:t>
                    </m:r>
                    <m:r>
                      <m:rPr>
                        <m:nor/>
                      </m:rPr>
                      <a:rPr lang="en-US" sz="1400"/>
                      <m:t>.</m:t>
                    </m:r>
                    <m:r>
                      <a:rPr lang="en-US" sz="1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b="1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sz="1800" dirty="0"/>
                  <a:t>From state</a:t>
                </a:r>
                <a:r>
                  <a:rPr lang="en-US" sz="1800" b="1" dirty="0"/>
                  <a:t> k </a:t>
                </a:r>
                <a:r>
                  <a:rPr lang="en-US" sz="1800" dirty="0"/>
                  <a:t>to</a:t>
                </a:r>
                <a:r>
                  <a:rPr lang="en-US" sz="1800" b="1" dirty="0"/>
                  <a:t> k−1: death </a:t>
                </a:r>
                <a:r>
                  <a:rPr lang="en-US" sz="1800" dirty="0"/>
                  <a:t>rate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sz="1800" b="1" dirty="0"/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800" b="1" dirty="0" smtClean="0"/>
                          <m:t>k</m:t>
                        </m:r>
                      </m:sub>
                      <m:sup/>
                    </m:sSubSup>
                    <m:r>
                      <a:rPr lang="en-US" sz="1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​</a:t>
                </a:r>
                <a:r>
                  <a:rPr lang="en-US" sz="1050" b="1" dirty="0"/>
                  <a:t>(</a:t>
                </a:r>
                <a:r>
                  <a:rPr lang="en-US" sz="1050" dirty="0"/>
                  <a:t>Customer departure after service, moving to the previous state.</a:t>
                </a:r>
                <a:r>
                  <a:rPr lang="en-US" sz="1050" b="1" dirty="0"/>
                  <a:t>)</a:t>
                </a:r>
              </a:p>
              <a:p>
                <a:pPr>
                  <a:buFont typeface="Arial" pitchFamily="34" charset="0"/>
                  <a:buChar char="•"/>
                </a:pPr>
                <a:endParaRPr lang="en-US" sz="1800" b="1" dirty="0"/>
              </a:p>
              <a:p>
                <a:pPr marL="152400" indent="0" algn="ctr">
                  <a:buNone/>
                </a:pPr>
                <a:r>
                  <a:rPr lang="en-US" sz="1800" b="1" dirty="0"/>
                  <a:t>Diagram structure:</a:t>
                </a:r>
              </a:p>
            </p:txBody>
          </p:sp>
        </mc:Choice>
        <mc:Fallback xmlns="">
          <p:sp>
            <p:nvSpPr>
              <p:cNvPr id="6" name="Google Shape;422;p2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 flipH="1">
                <a:off x="751667" y="1263111"/>
                <a:ext cx="7600449" cy="1387241"/>
              </a:xfrm>
              <a:prstGeom prst="rect">
                <a:avLst/>
              </a:prstGeom>
              <a:blipFill>
                <a:blip r:embed="rId5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B52C23C-844F-43F1-AF43-DAB124444E18}"/>
              </a:ext>
            </a:extLst>
          </p:cNvPr>
          <p:cNvSpPr txBox="1"/>
          <p:nvPr/>
        </p:nvSpPr>
        <p:spPr>
          <a:xfrm>
            <a:off x="780402" y="4707216"/>
            <a:ext cx="45991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models system evolution over time.</a:t>
            </a:r>
          </a:p>
        </p:txBody>
      </p:sp>
    </p:spTree>
    <p:extLst>
      <p:ext uri="{BB962C8B-B14F-4D97-AF65-F5344CB8AC3E}">
        <p14:creationId xmlns:p14="http://schemas.microsoft.com/office/powerpoint/2010/main" val="3978998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92DB2-3F86-4794-B0B9-EC75F2BB8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549"/>
            <a:ext cx="9144000" cy="68785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3E5C4BC-7D16-41E7-9983-BA808A76DDFD}"/>
              </a:ext>
            </a:extLst>
          </p:cNvPr>
          <p:cNvSpPr txBox="1">
            <a:spLocks/>
          </p:cNvSpPr>
          <p:nvPr/>
        </p:nvSpPr>
        <p:spPr>
          <a:xfrm>
            <a:off x="1982804" y="551087"/>
            <a:ext cx="7153447" cy="103018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/>
              <a:t>Performance Measures</a:t>
            </a:r>
            <a:r>
              <a:rPr lang="ar-EG" sz="3200" b="1" dirty="0"/>
              <a:t> </a:t>
            </a:r>
            <a:endParaRPr lang="en-US" sz="32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006F49-C74D-4194-B39B-BF436D4C3B8A}"/>
              </a:ext>
            </a:extLst>
          </p:cNvPr>
          <p:cNvSpPr txBox="1">
            <a:spLocks/>
          </p:cNvSpPr>
          <p:nvPr/>
        </p:nvSpPr>
        <p:spPr>
          <a:xfrm>
            <a:off x="379708" y="1487837"/>
            <a:ext cx="8307092" cy="475885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latin typeface="Anaheim" panose="020B0604020202020204" charset="0"/>
              </a:rPr>
              <a:t>Key Measures:</a:t>
            </a:r>
          </a:p>
          <a:p>
            <a:r>
              <a:rPr lang="en-US" sz="2000" dirty="0">
                <a:latin typeface="Anaheim" panose="020B0604020202020204" charset="0"/>
              </a:rPr>
              <a:t>P0 = Probability that there are no customers in the system.</a:t>
            </a:r>
          </a:p>
          <a:p>
            <a:r>
              <a:rPr lang="en-US" sz="2000" dirty="0" err="1">
                <a:latin typeface="Anaheim" panose="020B0604020202020204" charset="0"/>
              </a:rPr>
              <a:t>Pn</a:t>
            </a:r>
            <a:r>
              <a:rPr lang="en-US" sz="2000" dirty="0">
                <a:latin typeface="Anaheim" panose="020B0604020202020204" charset="0"/>
              </a:rPr>
              <a:t> = Probability that there are n customers in the system.</a:t>
            </a:r>
          </a:p>
          <a:p>
            <a:r>
              <a:rPr lang="en-US" sz="2000" dirty="0">
                <a:latin typeface="Anaheim" panose="020B0604020202020204" charset="0"/>
              </a:rPr>
              <a:t>L = Average number of customers in the system.</a:t>
            </a:r>
          </a:p>
          <a:p>
            <a:r>
              <a:rPr lang="en-US" sz="2000" dirty="0" err="1">
                <a:latin typeface="Anaheim" panose="020B0604020202020204" charset="0"/>
              </a:rPr>
              <a:t>Lq</a:t>
            </a:r>
            <a:r>
              <a:rPr lang="en-US" sz="2000" dirty="0">
                <a:latin typeface="Anaheim" panose="020B0604020202020204" charset="0"/>
              </a:rPr>
              <a:t> = Average number of customers in the queue. </a:t>
            </a:r>
          </a:p>
          <a:p>
            <a:r>
              <a:rPr lang="en-US" sz="2000" dirty="0">
                <a:latin typeface="Anaheim" panose="020B0604020202020204" charset="0"/>
              </a:rPr>
              <a:t>W = Average time a customer spends in the system. </a:t>
            </a:r>
          </a:p>
          <a:p>
            <a:r>
              <a:rPr lang="en-US" sz="2000" dirty="0" err="1">
                <a:latin typeface="Anaheim" panose="020B0604020202020204" charset="0"/>
              </a:rPr>
              <a:t>Wq</a:t>
            </a:r>
            <a:r>
              <a:rPr lang="en-US" sz="2000" dirty="0">
                <a:latin typeface="Anaheim" panose="020B0604020202020204" charset="0"/>
              </a:rPr>
              <a:t> = Average time a customer spends in the queue.</a:t>
            </a:r>
          </a:p>
          <a:p>
            <a:r>
              <a:rPr lang="en-US" sz="2000" dirty="0" err="1">
                <a:latin typeface="Anaheim" panose="020B0604020202020204" charset="0"/>
              </a:rPr>
              <a:t>λ_eff</a:t>
            </a:r>
            <a:r>
              <a:rPr lang="en-US" sz="2000" dirty="0">
                <a:latin typeface="Anaheim" panose="020B0604020202020204" charset="0"/>
              </a:rPr>
              <a:t> = effective arrival rate</a:t>
            </a:r>
          </a:p>
          <a:p>
            <a:r>
              <a:rPr lang="en-US" sz="2000" dirty="0">
                <a:latin typeface="Anaheim" panose="020B0604020202020204" charset="0"/>
              </a:rPr>
              <a:t>Pw = Probability that all servers are busy .</a:t>
            </a:r>
          </a:p>
          <a:p>
            <a:r>
              <a:rPr lang="en-US" sz="2000" dirty="0">
                <a:latin typeface="Anaheim" panose="020B0604020202020204" charset="0"/>
              </a:rPr>
              <a:t>p = Utilization rate of each server (the percentage of time that each server is busy).</a:t>
            </a:r>
          </a:p>
          <a:p>
            <a:r>
              <a:rPr lang="en-US" sz="1800" dirty="0">
                <a:latin typeface="Anaheim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524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F68592-B989-4F1E-93F7-9699575E2093}"/>
              </a:ext>
            </a:extLst>
          </p:cNvPr>
          <p:cNvSpPr txBox="1"/>
          <p:nvPr/>
        </p:nvSpPr>
        <p:spPr>
          <a:xfrm>
            <a:off x="286719" y="542443"/>
            <a:ext cx="65712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P₀ = 1 / [ </a:t>
            </a:r>
            <a:r>
              <a:rPr lang="el-GR" sz="1800" dirty="0"/>
              <a:t>Σ</a:t>
            </a:r>
            <a:r>
              <a:rPr lang="en-US" sz="1800" dirty="0"/>
              <a:t>(M!/(M-n)!) (</a:t>
            </a:r>
            <a:r>
              <a:rPr lang="el-GR" sz="1800" dirty="0"/>
              <a:t>λ/μ)^</a:t>
            </a:r>
            <a:r>
              <a:rPr lang="en-US" sz="1800" dirty="0"/>
              <a:t>n ]</a:t>
            </a:r>
          </a:p>
          <a:p>
            <a:endParaRPr lang="en-US" sz="1800" dirty="0"/>
          </a:p>
          <a:p>
            <a:r>
              <a:rPr lang="en-US" sz="1800" dirty="0"/>
              <a:t>Pₙ = (M!/(M-n)!) (</a:t>
            </a:r>
            <a:r>
              <a:rPr lang="el-GR" sz="1800" dirty="0"/>
              <a:t>λ/μ)^</a:t>
            </a:r>
            <a:r>
              <a:rPr lang="en-US" sz="1800" dirty="0"/>
              <a:t>n P₀ , for n = 1, 2, ..., M</a:t>
            </a:r>
          </a:p>
          <a:p>
            <a:endParaRPr lang="en-US" sz="1800" dirty="0"/>
          </a:p>
          <a:p>
            <a:r>
              <a:rPr lang="en-US" sz="1800" dirty="0"/>
              <a:t>L = </a:t>
            </a:r>
            <a:r>
              <a:rPr lang="el-GR" sz="1800" dirty="0"/>
              <a:t>Σ</a:t>
            </a:r>
            <a:r>
              <a:rPr lang="en-US" sz="1800" dirty="0"/>
              <a:t> n Pₙ</a:t>
            </a:r>
          </a:p>
          <a:p>
            <a:endParaRPr lang="en-US" sz="1800" dirty="0"/>
          </a:p>
          <a:p>
            <a:r>
              <a:rPr lang="en-US" sz="1800" dirty="0" err="1"/>
              <a:t>L_q</a:t>
            </a:r>
            <a:r>
              <a:rPr lang="en-US" sz="1800" dirty="0"/>
              <a:t> = </a:t>
            </a:r>
            <a:r>
              <a:rPr lang="el-GR" sz="1800" dirty="0"/>
              <a:t>Σ_{</a:t>
            </a:r>
            <a:r>
              <a:rPr lang="en-US" sz="1800" dirty="0"/>
              <a:t>n=1}^{M} (n-1) Pₙ</a:t>
            </a:r>
          </a:p>
          <a:p>
            <a:endParaRPr lang="en-US" sz="1800" dirty="0"/>
          </a:p>
          <a:p>
            <a:r>
              <a:rPr lang="el-GR" sz="1800" dirty="0"/>
              <a:t>λ_</a:t>
            </a:r>
            <a:r>
              <a:rPr lang="en-US" sz="1800" dirty="0"/>
              <a:t>eff = </a:t>
            </a:r>
            <a:r>
              <a:rPr lang="el-GR" sz="1800" dirty="0"/>
              <a:t>λ (</a:t>
            </a:r>
            <a:r>
              <a:rPr lang="en-US" sz="1800" dirty="0"/>
              <a:t>M - L)</a:t>
            </a:r>
          </a:p>
          <a:p>
            <a:endParaRPr lang="en-US" sz="1800" dirty="0"/>
          </a:p>
          <a:p>
            <a:r>
              <a:rPr lang="en-US" sz="1800" dirty="0"/>
              <a:t>W = L / </a:t>
            </a:r>
            <a:r>
              <a:rPr lang="el-GR" sz="1800" dirty="0"/>
              <a:t>λ_</a:t>
            </a:r>
            <a:r>
              <a:rPr lang="en-US" sz="1800" dirty="0"/>
              <a:t>eff</a:t>
            </a:r>
          </a:p>
          <a:p>
            <a:endParaRPr lang="en-US" sz="1800" dirty="0"/>
          </a:p>
          <a:p>
            <a:r>
              <a:rPr lang="en-US" sz="1800" dirty="0" err="1"/>
              <a:t>W_q</a:t>
            </a:r>
            <a:r>
              <a:rPr lang="en-US" sz="1800" dirty="0"/>
              <a:t> = </a:t>
            </a:r>
            <a:r>
              <a:rPr lang="en-US" sz="1800" dirty="0" err="1"/>
              <a:t>L_q</a:t>
            </a:r>
            <a:r>
              <a:rPr lang="en-US" sz="1800" dirty="0"/>
              <a:t> / </a:t>
            </a:r>
            <a:r>
              <a:rPr lang="el-GR" sz="1800" dirty="0"/>
              <a:t>λ_</a:t>
            </a:r>
            <a:r>
              <a:rPr lang="en-US" sz="1800" dirty="0"/>
              <a:t>eff</a:t>
            </a:r>
          </a:p>
        </p:txBody>
      </p:sp>
    </p:spTree>
    <p:extLst>
      <p:ext uri="{BB962C8B-B14F-4D97-AF65-F5344CB8AC3E}">
        <p14:creationId xmlns:p14="http://schemas.microsoft.com/office/powerpoint/2010/main" val="1561871543"/>
      </p:ext>
    </p:extLst>
  </p:cSld>
  <p:clrMapOvr>
    <a:masterClrMapping/>
  </p:clrMapOvr>
</p:sld>
</file>

<file path=ppt/theme/theme1.xml><?xml version="1.0" encoding="utf-8"?>
<a:theme xmlns:a="http://schemas.openxmlformats.org/drawingml/2006/main" name="Economy Thesis by Slidesgo">
  <a:themeElements>
    <a:clrScheme name="Simple Light">
      <a:dk1>
        <a:srgbClr val="FAFAFA"/>
      </a:dk1>
      <a:lt1>
        <a:srgbClr val="C1E5F8"/>
      </a:lt1>
      <a:dk2>
        <a:srgbClr val="A4D8F4"/>
      </a:dk2>
      <a:lt2>
        <a:srgbClr val="71B8DF"/>
      </a:lt2>
      <a:accent1>
        <a:srgbClr val="53A7D5"/>
      </a:accent1>
      <a:accent2>
        <a:srgbClr val="217BAC"/>
      </a:accent2>
      <a:accent3>
        <a:srgbClr val="434343"/>
      </a:accent3>
      <a:accent4>
        <a:srgbClr val="666666"/>
      </a:accent4>
      <a:accent5>
        <a:srgbClr val="999999"/>
      </a:accent5>
      <a:accent6>
        <a:srgbClr val="CCCCC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516</Words>
  <Application>Microsoft Office PowerPoint</Application>
  <PresentationFormat>On-screen Show (16:9)</PresentationFormat>
  <Paragraphs>71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Nunito</vt:lpstr>
      <vt:lpstr>Cambria Math</vt:lpstr>
      <vt:lpstr>Abel</vt:lpstr>
      <vt:lpstr>Arial</vt:lpstr>
      <vt:lpstr>Josefin Slab</vt:lpstr>
      <vt:lpstr>Josefin Sans</vt:lpstr>
      <vt:lpstr>Anton</vt:lpstr>
      <vt:lpstr>Anaheim</vt:lpstr>
      <vt:lpstr>Josefin Slab SemiBold</vt:lpstr>
      <vt:lpstr>Nunito Bold</vt:lpstr>
      <vt:lpstr>Staatliches</vt:lpstr>
      <vt:lpstr>Economy Thesis by Slidesgo</vt:lpstr>
      <vt:lpstr>M/M/1/M : FINITE CUSTOMER POPULATION</vt:lpstr>
      <vt:lpstr>Birth-death Model and the coefficient</vt:lpstr>
      <vt:lpstr>Steady-State Probabilities (Pₖ ,P₀)</vt:lpstr>
      <vt:lpstr>Steady-State Probabilities (Pₖ ,P₀)</vt:lpstr>
      <vt:lpstr>Birth-death PROCESS For single-server finite</vt:lpstr>
      <vt:lpstr>Birth-death DIAGRAM For single-server finite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M/M/1/M : FINITE CUSTOMER POPULATION</dc:title>
  <dc:creator>Mohamed Hela</dc:creator>
  <cp:lastModifiedBy>ganna</cp:lastModifiedBy>
  <cp:revision>42</cp:revision>
  <dcterms:modified xsi:type="dcterms:W3CDTF">2026-04-26T15:27:09Z</dcterms:modified>
</cp:coreProperties>
</file>